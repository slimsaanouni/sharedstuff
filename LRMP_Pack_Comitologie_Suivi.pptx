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 destiné à être collé dans le modèle PowerPoint du Groupe. Les couleurs sont regroupées en tête du script et dans la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à supprimer avant diffusion externe : c'est la notice interne du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toutes les valeurs par les données réelles avant la séance. Règle : un chantier passe en « sous tension » dès qu'un livrable glisse d'une semaine, en « en retard » au-delà de deux.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entrées sont des exemples. Tout risque de niveau élevé doit avoir un porteur nommé et une parade datée.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A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LRMP  ·  GROUPE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Comitologie, jalons et suivi d'avancement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de slides réutilisable : gouvernance cible au niveau Groupe et au niveau des filiales,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RACI, et tableaux de bord d'avancement pour les comités projet.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457200" cy="27432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92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E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02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– décembre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4709160"/>
            <a:ext cx="457200" cy="27432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4892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E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5102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sur arrêté du 30/06/2026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4709160"/>
            <a:ext cx="457200" cy="27432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4892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E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REMISE OFFICIELLE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102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réutiliser ce pack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familles de slides, conçues pour être reprises telles quelles ou recolorées aux couleurs du Groupe.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7919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0020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3C5A87"/>
          </a:solidFill>
          <a:ln w="12700">
            <a:solidFill>
              <a:srgbClr val="3C5A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58191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Groupe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984248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cibles, rythme, jalons et matrice RACI au niveau du Groupe.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9260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C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 à 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7919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160020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83864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158191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Filiales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83864" y="1984248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d'accompagnement, vague de collecte et matrice RACI côté filiales.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83864" y="29260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 à 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1344" y="1417320"/>
            <a:ext cx="267919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60020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6A4478"/>
          </a:solidFill>
          <a:ln w="12700">
            <a:solidFill>
              <a:srgbClr val="6A4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158191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COPROJ Groupe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45936" y="1984248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mensuel : avancement par chantier, décisions, risques, jalons.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29260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A4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43416" y="1417320"/>
            <a:ext cx="267919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8008" y="160020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2C6549"/>
          </a:solidFill>
          <a:ln w="12700">
            <a:solidFill>
              <a:srgbClr val="2C65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08008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610344" y="158191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COPROJ Filiales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1984248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hebdomadaire : état d'avancement de chaque filiale.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08008" y="29260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5532120" cy="2697480"/>
          </a:xfrm>
          <a:prstGeom prst="roundRect">
            <a:avLst>
              <a:gd name="adj" fmla="val 1356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la charte du Groupe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4069080"/>
            <a:ext cx="256032" cy="256032"/>
          </a:xfrm>
          <a:prstGeom prst="ellipse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0507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les slides dans le modèle du Groupe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▸ Coller ▸ Utiliser le thème de destination : polices et fond s'alignent automatiquement.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" y="4754880"/>
            <a:ext cx="256032" cy="256032"/>
          </a:xfrm>
          <a:prstGeom prst="ellipse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736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six couleurs du pack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aplat par chantier, plus trois couleurs de statut. La liste figure ci-contre.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" y="5440680"/>
            <a:ext cx="256032" cy="256032"/>
          </a:xfrm>
          <a:prstGeom prst="ellipse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440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4223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formes natives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641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Barres, pastilles et tableaux sont des objets PowerPoint : tout reste éditable, rien n'est une image.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99632" y="3520440"/>
            <a:ext cx="5532120" cy="2697480"/>
          </a:xfrm>
          <a:prstGeom prst="roundRect">
            <a:avLst>
              <a:gd name="adj" fmla="val 1356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28232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Couleurs à remplacer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28232" y="4114800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93992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 — Gouvernance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793992" y="4270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3C5A87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25712" y="4114800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91472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 — Méthodologie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491472" y="4270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1E5E59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28232" y="4517136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93992" y="4498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 — Filiales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793992" y="4672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8A5A18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25712" y="4517136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6A4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91472" y="4498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 — Agrégation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491472" y="4672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6A4478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28232" y="4919472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2C65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793992" y="4901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 — Rapport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793992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2C6549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125712" y="4919472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491472" y="4901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engageants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9491472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8E4326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428232" y="5321808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2C65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93992" y="5303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à l'heure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6793992" y="5477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2C6549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125712" y="5321808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9A6B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491472" y="5303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sous tension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9491472" y="5477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9A6B12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28232" y="5724144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9E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793992" y="5705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en retard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793992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D6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9E3626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RÉTROPLANNING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Septembre – décembre 2026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Treize semaines pour produire l'exercice à blanc et sécuriser la production officielle de mai 2027.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703320" y="1353312"/>
            <a:ext cx="1221849" cy="182880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353312"/>
            <a:ext cx="12355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38885" y="1353312"/>
            <a:ext cx="2457415" cy="182880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8885" y="1353312"/>
            <a:ext cx="2471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410016" y="1353312"/>
            <a:ext cx="2457415" cy="182880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10016" y="1353312"/>
            <a:ext cx="2471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881147" y="1353312"/>
            <a:ext cx="1839632" cy="182880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81147" y="1353312"/>
            <a:ext cx="1853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DÉCEMBRE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3716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S39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21/09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03320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21103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S40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321103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28/09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321103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8885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S41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938885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938885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56668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S42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556668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12/10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556668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4451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S43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174451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174451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92234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S44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792234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792234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10016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410016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410016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27799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S46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8027799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09/11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027799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45582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S47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8645582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8645582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63364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S48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9263364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23/11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9263364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81147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S49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9881147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9881147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98930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S50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498930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07/12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498930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116712" y="1572768"/>
            <a:ext cx="6177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S51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1116712" y="1719072"/>
            <a:ext cx="6177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14/12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1116712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34495" y="1883664"/>
            <a:ext cx="0" cy="3163824"/>
          </a:xfrm>
          <a:prstGeom prst="line">
            <a:avLst/>
          </a:prstGeom>
          <a:noFill/>
          <a:ln w="6350">
            <a:solidFill>
              <a:srgbClr val="D5DD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1911096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2920" y="19202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projet, RACI, seconde ligne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30752" y="1961388"/>
            <a:ext cx="1180701" cy="118872"/>
          </a:xfrm>
          <a:prstGeom prst="roundRect">
            <a:avLst>
              <a:gd name="adj" fmla="val 23077"/>
            </a:avLst>
          </a:prstGeom>
          <a:solidFill>
            <a:srgbClr val="3C5A87"/>
          </a:solidFill>
          <a:ln w="12700">
            <a:solidFill>
              <a:srgbClr val="3C5A8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2920" y="21396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technique bimensuel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66317" y="2180844"/>
            <a:ext cx="6740746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C5A8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457200" y="2350008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02920" y="23591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hebdomadaire filiales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84100" y="2400300"/>
            <a:ext cx="4269615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C5A87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502920" y="25786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ORSA, PPR, politique liquidité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730752" y="2619756"/>
            <a:ext cx="1180701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1E5E5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2788920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02920" y="27980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 la réassurance interne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48535" y="2839212"/>
            <a:ext cx="1798484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1E5E5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02920" y="30175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Transférabilité par juridiction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348535" y="3058668"/>
            <a:ext cx="2416267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1E5E5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3227832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2920" y="32369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méthodologique v1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66317" y="3278124"/>
            <a:ext cx="1798484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1E5E59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02920" y="3456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Calibrage des scénarios de stress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584100" y="3497580"/>
            <a:ext cx="1798484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1E5E5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3666744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02920" y="3675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collecte et pilote interne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966317" y="3717036"/>
            <a:ext cx="1798484" cy="118872"/>
          </a:xfrm>
          <a:prstGeom prst="roundRect">
            <a:avLst>
              <a:gd name="adj" fmla="val 23077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02920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itérations avec les filiales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819666" y="3936492"/>
            <a:ext cx="3651832" cy="118872"/>
          </a:xfrm>
          <a:prstGeom prst="roundRect">
            <a:avLst>
              <a:gd name="adj" fmla="val 23077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7200" y="4105656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02920" y="41148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des 20 entités gérées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584100" y="4155948"/>
            <a:ext cx="3651832" cy="118872"/>
          </a:xfrm>
          <a:prstGeom prst="roundRect">
            <a:avLst>
              <a:gd name="adj" fmla="val 23077"/>
            </a:avLst>
          </a:prstGeom>
          <a:solidFill>
            <a:srgbClr val="6A4478"/>
          </a:solidFill>
          <a:ln w="12700">
            <a:solidFill>
              <a:srgbClr val="6A447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2920" y="43342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Appariement intragroupe et agrégation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73014" y="4375404"/>
            <a:ext cx="3034050" cy="118872"/>
          </a:xfrm>
          <a:prstGeom prst="roundRect">
            <a:avLst>
              <a:gd name="adj" fmla="val 23077"/>
            </a:avLst>
          </a:prstGeom>
          <a:solidFill>
            <a:srgbClr val="6A4478"/>
          </a:solidFill>
          <a:ln w="12700">
            <a:solidFill>
              <a:srgbClr val="6A447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4544568"/>
            <a:ext cx="11277295" cy="219456"/>
          </a:xfrm>
          <a:prstGeom prst="rect">
            <a:avLst/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02920" y="45537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du rapport et revue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908579" y="4594860"/>
            <a:ext cx="1798484" cy="118872"/>
          </a:xfrm>
          <a:prstGeom prst="roundRect">
            <a:avLst>
              <a:gd name="adj" fmla="val 23077"/>
            </a:avLst>
          </a:prstGeom>
          <a:solidFill>
            <a:srgbClr val="2C6549"/>
          </a:solidFill>
          <a:ln w="12700">
            <a:solidFill>
              <a:srgbClr val="2C6549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02920" y="47731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et feuille de route 2027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1144144" y="4814316"/>
            <a:ext cx="562919" cy="118872"/>
          </a:xfrm>
          <a:prstGeom prst="roundRect">
            <a:avLst>
              <a:gd name="adj" fmla="val 23077"/>
            </a:avLst>
          </a:prstGeom>
          <a:solidFill>
            <a:srgbClr val="2C6549"/>
          </a:solidFill>
          <a:ln w="12700">
            <a:solidFill>
              <a:srgbClr val="2C6549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02920" y="51755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47698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211375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#1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5783263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446940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018829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682506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#2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489960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153636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#3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0725525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389202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#4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1343308" y="5129784"/>
            <a:ext cx="164592" cy="146304"/>
          </a:xfrm>
          <a:prstGeom prst="triangl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1006984" y="5303520"/>
            <a:ext cx="837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du CA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5720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68096" y="5605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 Gouvernance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05740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2368296" y="5605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 Méthodologie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65760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968496" y="5605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 Filiales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25780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6A4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568696" y="5605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 Agrégation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85800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2C65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168896" y="5605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 Rapport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8595360" y="5641848"/>
            <a:ext cx="237744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5D6A75"/>
            </a:solidFill>
            <a:prstDash val="dash"/>
          </a:ln>
        </p:spPr>
      </p:sp>
      <p:sp>
        <p:nvSpPr>
          <p:cNvPr id="114" name="Text 112"/>
          <p:cNvSpPr txBox="1"/>
          <p:nvPr/>
        </p:nvSpPr>
        <p:spPr>
          <a:xfrm>
            <a:off x="8906256" y="5605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récurrent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57200" y="5797296"/>
            <a:ext cx="11277295" cy="548640"/>
          </a:xfrm>
          <a:prstGeom prst="roundRect">
            <a:avLst>
              <a:gd name="adj" fmla="val 6667"/>
            </a:avLst>
          </a:prstGeom>
          <a:solidFill>
            <a:srgbClr val="F4E6E0"/>
          </a:solidFill>
          <a:ln w="9525">
            <a:solidFill>
              <a:srgbClr val="F4E6E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40080" y="5907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2148840" y="5888736"/>
            <a:ext cx="9402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des traités → templates et pilote → collecte filiales → appariement intragroupe → agrégation → rapport. Aucune marge sur cette chaîne : tout retard sur la réassurance interne se propage jusqu'au 18 décembre.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GROUPE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instances, trois rythmes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instance a un mandat distinct : décider, instruire, informer.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30168" cy="411480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630168" cy="530352"/>
          </a:xfrm>
          <a:prstGeom prst="rect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904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 Groupe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07208" y="1554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08483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C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3172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 les choix méthodologiques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les livrables de chaque phase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les escalades des filiales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Alloue les ressources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8862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00507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187952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investissements et ALM, fonction gestion des risques, Trésorerie, Actuariat, Consolidation, Réassurance, PMO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0474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C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séances d'ici décembre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70248" y="1371600"/>
            <a:ext cx="3630168" cy="411480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0248" y="1371600"/>
            <a:ext cx="3630168" cy="530352"/>
          </a:xfrm>
          <a:prstGeom prst="rect">
            <a:avLst/>
          </a:prstGeom>
          <a:solidFill>
            <a:srgbClr val="1E5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71416" y="14904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Comité technique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0256" y="1554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BIMENSUEL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208483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INSTRUIT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471416" y="233172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les questions méthodologiques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 les décisions du COPIL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la veille réglementaire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la qualité des données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71416" y="38862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71416" y="400507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471416" y="4187952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ALM, Risques, Trésorerie, Actuariat, Consolidation, Réassurance, Juridique et Fiscal en tant que de besoin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50474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pouvoir de décision propre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83296" y="1371600"/>
            <a:ext cx="3630168" cy="411480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1371600"/>
            <a:ext cx="3630168" cy="530352"/>
          </a:xfrm>
          <a:prstGeom prst="rect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14904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Comité des risques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433304" y="1554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PONCTUEL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208483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INFORMÉ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284464" y="233172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 connaissance du dry-run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la trajectoire 2027 et 2028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 plan en mai 2027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84464" y="38862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4464" y="400507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4187952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Administrateurs, direction générale, fonctions clés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50474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en décembre 2026, validation en mai 2027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77295" cy="603504"/>
          </a:xfrm>
          <a:prstGeom prst="roundRect">
            <a:avLst>
              <a:gd name="adj" fmla="val 6061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769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retenu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057400" y="5760720"/>
            <a:ext cx="9494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production est portée par la Direction des investissements et de l'ALM. L'évaluation globale — respect des limites, adéquation de la liquidité, vulnérabilités — est challengée par la fonction gestion des risques en seconde ligne.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GROUPE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Jalons et contenu des comités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COPIL doit avoir tranché pour que le suivant puisse se tenir.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80160" y="2121408"/>
            <a:ext cx="9631375" cy="0"/>
          </a:xfrm>
          <a:prstGeom prst="line">
            <a:avLst/>
          </a:prstGeom>
          <a:noFill/>
          <a:ln w="19050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8468" y="2002536"/>
            <a:ext cx="237744" cy="237744"/>
          </a:xfrm>
          <a:prstGeom prst="ellipse">
            <a:avLst/>
          </a:prstGeom>
          <a:solidFill>
            <a:srgbClr val="8E43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91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371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 #1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2240280" cy="2743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41448"/>
            <a:ext cx="2240280" cy="292608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898648"/>
            <a:ext cx="1911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arrêté au 30/06, horizon court terme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et seconde ligne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Correspondants filiales nommés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points ouverts arbitrés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2756" y="2002536"/>
            <a:ext cx="237744" cy="237744"/>
          </a:xfrm>
          <a:prstGeom prst="ellipse">
            <a:avLst/>
          </a:prstGeom>
          <a:solidFill>
            <a:srgbClr val="8E43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61488" y="1591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761488" y="1371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filiales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61488" y="2441448"/>
            <a:ext cx="2240280" cy="2743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2441448"/>
            <a:ext cx="2240280" cy="292608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61488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2898648"/>
            <a:ext cx="1911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quantitatif et qualitatif diffusés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de remplissage présentée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d'itération partagé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67044" y="2002536"/>
            <a:ext cx="237744" cy="237744"/>
          </a:xfrm>
          <a:prstGeom prst="ellipse">
            <a:avLst/>
          </a:prstGeom>
          <a:solidFill>
            <a:srgbClr val="8E43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65776" y="1591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65776" y="1371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 #2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65776" y="2441448"/>
            <a:ext cx="2240280" cy="2743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2441448"/>
            <a:ext cx="2240280" cy="292608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65776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898648"/>
            <a:ext cx="1911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partis pris quantitatifs validés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de transférabilité par juridiction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et niveaux de sévérité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du pilote interne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71332" y="2002536"/>
            <a:ext cx="237744" cy="237744"/>
          </a:xfrm>
          <a:prstGeom prst="ellipse">
            <a:avLst/>
          </a:prstGeom>
          <a:solidFill>
            <a:srgbClr val="8E43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70064" y="1591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1371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 #3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0064" y="2441448"/>
            <a:ext cx="2240280" cy="2743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70064" y="2441448"/>
            <a:ext cx="2240280" cy="292608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70064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534656" y="2898648"/>
            <a:ext cx="1911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reçues, anomalies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soldes par entité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d'appariement intragroupe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des analyses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675620" y="2002536"/>
            <a:ext cx="237744" cy="237744"/>
          </a:xfrm>
          <a:prstGeom prst="ellipse">
            <a:avLst/>
          </a:prstGeom>
          <a:solidFill>
            <a:srgbClr val="8E43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74352" y="1591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74352" y="1371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 #4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74352" y="2441448"/>
            <a:ext cx="2240280" cy="2743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74352" y="2441448"/>
            <a:ext cx="2240280" cy="292608"/>
          </a:xfrm>
          <a:prstGeom prst="rect">
            <a:avLst/>
          </a:prstGeom>
          <a:solidFill>
            <a:srgbClr val="DCEB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74352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838944" y="2898648"/>
            <a:ext cx="1911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complet, structure article 3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des indicateurs proposée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et actions correctrices</a:t>
            </a:r>
            <a:endParaRPr lang="en-US" sz="10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2027 et 2028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623560"/>
            <a:ext cx="11277295" cy="64008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5742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fonctionnement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2514600" y="5733288"/>
            <a:ext cx="9037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non prise en COPIL bascule au comité technique suivant avec un porteur nommé et une date. Aucun sujet ne peut être reporté deux fois : au second report, il est arbitré par le sponsor du projet.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GROUPE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RACI — chantiers Groupe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 par ligne : l'accountability ne se partage pas.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·   Projet LRMP — pack comitologie et suivi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88528"/>
                <a:gridCol w="1088528"/>
                <a:gridCol w="1088528"/>
                <a:gridCol w="1088528"/>
                <a:gridCol w="1088528"/>
                <a:gridCol w="1088528"/>
                <a:gridCol w="108852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ALM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risques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Réassurance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Conso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Cadrage, RACI et gouvernance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E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Méthodologie et calibrage des scénarios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E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Cartographie de la réassurance interne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Transférabilité par juridiction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E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de collecte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E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des projections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Appariement des flux intragroupe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E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Agrégation et vues 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de second niveau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du rapport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du livrable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1E5E5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 et rend compte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0" y="525780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DCEBE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218688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compte — accountable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0" y="525780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504688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 — responsible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0" y="525780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790688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Consulté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601200" y="525780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076688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Informé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5669280"/>
            <a:ext cx="11277295" cy="603504"/>
          </a:xfrm>
          <a:prstGeom prst="roundRect">
            <a:avLst>
              <a:gd name="adj" fmla="val 6061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5769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contrôle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2057400" y="5760720"/>
            <a:ext cx="9494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« Challenge de second niveau » est celle que le superviseur regardera en premier : elle matérialise l'indépendance de la fonction gestion des risques vis-à-vis de la première ligne qui produit les projections.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FILIALES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Accompagner cinq entités autonomes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plus soutenu qu'au niveau Groupe : l'objectif est l'acculturation autant que la collecte.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30168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630168" cy="530352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2646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Comité hebdomadaire filiales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8249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SEMAINE, 45 MIN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084832"/>
            <a:ext cx="3227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d'avancement de chaque entité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questions communes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échéances de la semaine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des bonnes pratiques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767328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95020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 des 5 filiales, PMO Groupe, un expert ALM ou Actuariat en tant que de besoin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0248" y="1371600"/>
            <a:ext cx="3630168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371600"/>
            <a:ext cx="3630168" cy="530352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1416" y="142646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Cliniques bilatérales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168249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DEMANDE, 1 H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2084832"/>
            <a:ext cx="3227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propres à une entité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ligne à ligne du template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calibrage local des chocs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données manquantes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71416" y="36576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71416" y="3767328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471416" y="395020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filiale à la fois, avec l'expert Groupe compétent sur le sujet bloquant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83296" y="1371600"/>
            <a:ext cx="3630168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371600"/>
            <a:ext cx="3630168" cy="530352"/>
          </a:xfrm>
          <a:prstGeom prst="rect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4464" y="142646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d'escalade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168249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PONCTUEL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2084832"/>
            <a:ext cx="3227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non résolus en clinique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Arbitrages de périmètre ou de délai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au COPIL Groupe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84464" y="3657600"/>
            <a:ext cx="3227832" cy="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3767328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395020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filiale, sponsor du projet, PMO Groupe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règles de fonctionnement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5102352"/>
            <a:ext cx="237744" cy="237744"/>
          </a:xfrm>
          <a:prstGeom prst="ellipse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0749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 nommé par filiale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5294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unique, disponible chaque semaine, mandaté pour engager son entité.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5102352"/>
            <a:ext cx="237744" cy="237744"/>
          </a:xfrm>
          <a:prstGeom prst="ellipse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44768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0749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trame par entité juridique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294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fusion entre entités : l'agrégation Groupe a besoin du détail par entité.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760720"/>
            <a:ext cx="237744" cy="237744"/>
          </a:xfrm>
          <a:prstGeom prst="ellipse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5760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5733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fixe le narratif, la filiale calibre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" y="59527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scénarios sont communs ; leur traduction locale est justifiée par la filiale.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44768" y="5760720"/>
            <a:ext cx="237744" cy="237744"/>
          </a:xfrm>
          <a:prstGeom prst="ellipse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44768" y="5760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5733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question ne reste sans réponse une semaine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59527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question posée en hebdomadaire reçoit une réponse avant la séance suivante.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FILIALES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vague de collecte, semaine par semaine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étapes entre le kick-off et la livraison finale, avec l'engagement attendu de chaque partie.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757629" cy="457200"/>
          </a:xfrm>
          <a:prstGeom prst="rect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des templates et de la notice, présentation des scénarios et du calendrier.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C5A87"/>
          </a:solidFill>
          <a:ln w="12700">
            <a:solidFill>
              <a:srgbClr val="3C5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33117" y="1618488"/>
            <a:ext cx="109728" cy="146304"/>
          </a:xfrm>
          <a:prstGeom prst="rightArrow">
            <a:avLst/>
          </a:prstGeom>
          <a:solidFill>
            <a:srgbClr val="D5D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61133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1133" y="1463040"/>
            <a:ext cx="1757629" cy="457200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1133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98293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en main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98293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filiale recense ses données sources et identifie ses écarts de disponibilité.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98293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98293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37050" y="1618488"/>
            <a:ext cx="109728" cy="146304"/>
          </a:xfrm>
          <a:prstGeom prst="rightArrow">
            <a:avLst/>
          </a:prstGeom>
          <a:solidFill>
            <a:srgbClr val="D5D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5066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5066" y="1463040"/>
            <a:ext cx="1757629" cy="457200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65066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S44–S45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02226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02226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du template quantitatif et qualitatif, cliniques bilatérales à la demande.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02226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02226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40984" y="1618488"/>
            <a:ext cx="109728" cy="146304"/>
          </a:xfrm>
          <a:prstGeom prst="rightArrow">
            <a:avLst/>
          </a:prstGeom>
          <a:solidFill>
            <a:srgbClr val="D5D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9000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9000" y="1463040"/>
            <a:ext cx="1757629" cy="457200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9000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06160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 v1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06160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de la première version, contrôles internes de la trame tous au vert.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6160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6160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44917" y="1618488"/>
            <a:ext cx="109728" cy="146304"/>
          </a:xfrm>
          <a:prstGeom prst="rightArrow">
            <a:avLst/>
          </a:prstGeom>
          <a:solidFill>
            <a:srgbClr val="D5D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2933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72933" y="1463040"/>
            <a:ext cx="1757629" cy="457200"/>
          </a:xfrm>
          <a:prstGeom prst="rect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72933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S46–S47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10093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Contrôles Groupe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10093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Complétude, rapprochements, cohérence des chocs, écarts d'appariement intragroupe.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10093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C5A87"/>
          </a:solidFill>
          <a:ln w="12700">
            <a:solidFill>
              <a:srgbClr val="3C5A8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10093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848850" y="1618488"/>
            <a:ext cx="109728" cy="146304"/>
          </a:xfrm>
          <a:prstGeom prst="rightArrow">
            <a:avLst/>
          </a:prstGeom>
          <a:solidFill>
            <a:srgbClr val="D5D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76866" y="1463040"/>
            <a:ext cx="1757629" cy="301752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76866" y="1463040"/>
            <a:ext cx="1757629" cy="457200"/>
          </a:xfrm>
          <a:prstGeom prst="rect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76866" y="1463040"/>
            <a:ext cx="175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S48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114026" y="2084832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 v2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114026" y="2606040"/>
            <a:ext cx="14833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finale après itération. Au-delà, les données sont figées pour l'agrégation.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114026" y="411480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8A5A18"/>
          </a:solidFill>
          <a:ln w="12700">
            <a:solidFill>
              <a:srgbClr val="8A5A1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114026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754880"/>
            <a:ext cx="3630168" cy="1371600"/>
          </a:xfrm>
          <a:prstGeom prst="roundRect">
            <a:avLst>
              <a:gd name="adj" fmla="val 2667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" y="4974336"/>
            <a:ext cx="146304" cy="146304"/>
          </a:xfrm>
          <a:prstGeom prst="ellipse">
            <a:avLst/>
          </a:prstGeom>
          <a:solidFill>
            <a:srgbClr val="9E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6112" y="4937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bloque le plus souvent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52852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 de temps des données : les systèmes des filiales projettent à l'année, la trame demande le mois.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70248" y="4754880"/>
            <a:ext cx="3630168" cy="1371600"/>
          </a:xfrm>
          <a:prstGeom prst="roundRect">
            <a:avLst>
              <a:gd name="adj" fmla="val 2667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71416" y="4974336"/>
            <a:ext cx="146304" cy="146304"/>
          </a:xfrm>
          <a:prstGeom prst="ellipse">
            <a:avLst/>
          </a:prstGeom>
          <a:solidFill>
            <a:srgbClr val="9A6B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709160" y="4937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règle en clinique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471416" y="52852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calibrage local des chocs et le traitement des flux intragroupe conditionnels.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083296" y="4754880"/>
            <a:ext cx="3630168" cy="1371600"/>
          </a:xfrm>
          <a:prstGeom prst="roundRect">
            <a:avLst>
              <a:gd name="adj" fmla="val 2667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84464" y="4974336"/>
            <a:ext cx="146304" cy="146304"/>
          </a:xfrm>
          <a:prstGeom prst="ellipse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522208" y="4937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ne se négocie pas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284464" y="52852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de livraison v2 : au-delà, l'agrégation Groupe ne peut plus intégrer les corrections.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COMITOLOGIE FILIALES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RACI — collecte en filiale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 entre le Groupe et l'entité, du kick-off à la transmission.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·   Projet LRMP — pack comitologie et suivi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88528"/>
                <a:gridCol w="1088528"/>
                <a:gridCol w="1088528"/>
                <a:gridCol w="1088528"/>
                <a:gridCol w="1088528"/>
                <a:gridCol w="1088528"/>
                <a:gridCol w="1088528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Actuariat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filiale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Désignation du référent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des templates et de la notice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au kick-off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Recensement des données 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Remplissage du volet quantitatif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Calibrage local des chocs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Remplissage du volet qualitatif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Contrôles internes avant envoi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interne avant transmission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Contrôles de cohérence Groupe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aux itérations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Escalade des points bloquants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D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7784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687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5669280"/>
            <a:ext cx="9859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 filiale porte l'essentiel du R et du A opérationnel : c'est un rôle mandaté, pas un relais administratif. La direction de la filiale reste accountable de la validation interne avant transmission — c'est elle qui engage l'entité sur les chiffres remis au Groupe.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D'AVANCEMENT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Comité projet Groupe — tableau de bord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à mettre à jour avant chaque séance. Les données ci-dessous sont des exemples à remplacer.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·   Projet LRMP — pack comitologie et suivi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79192" cy="566928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71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9272" y="1298448"/>
            <a:ext cx="2679192" cy="566928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3864" y="1371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COMITÉ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06/11/2026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298448"/>
            <a:ext cx="2679192" cy="566928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1371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GLOBAL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tension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43416" y="1298448"/>
            <a:ext cx="2679192" cy="566928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08008" y="13716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SUIVANT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#3 — 27/11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874520"/>
                <a:gridCol w="685800"/>
                <a:gridCol w="1051560"/>
                <a:gridCol w="2743200"/>
                <a:gridCol w="2651760"/>
                <a:gridCol w="176479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 depuis le dernier comité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 d'ici le prochain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d'attention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 et pilotage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l'heure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 validé, comité technique installé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Préparer l'ordre du jour du COPIL #3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Méthodologie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 tension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Scénarios calibrés, note méthodo v1 diffusée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Finaliser la table de correspondance des indicateurs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Transférabilité Bahamas non tranchée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 filiales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 tension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filiales sur 5 ont livré une 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Contrôles qualité et itération 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 UK en retard de 2 semaines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4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et agrégation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l'heure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entités sur 20 produites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Démarrer l'appariement intragroupe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5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et clôture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l'heure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détaillé du rapport arrêté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des sections méthodologiques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4828032"/>
            <a:ext cx="36301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5029200"/>
            <a:ext cx="137160" cy="137160"/>
          </a:xfrm>
          <a:prstGeom prst="ellipse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49743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 aujourd'hui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76656" y="5303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 transférabilité retenue pour les Bahamas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matérialité des traités internes : 80 % ou 90 %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ou décalage de la date de gel des données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70248" y="4828032"/>
            <a:ext cx="36301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71416" y="5029200"/>
            <a:ext cx="137160" cy="137160"/>
          </a:xfrm>
          <a:prstGeom prst="ellipse">
            <a:avLst/>
          </a:prstGeom>
          <a:solidFill>
            <a:srgbClr val="9E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90872" y="49743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et alertes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489704" y="5303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UK : retard de 2 semaines, clinique programmée le 10/11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temps du modèle ALM : bascule trésorerie confirmée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du RTS au JO toujours attendue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083296" y="4828032"/>
            <a:ext cx="36301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5029200"/>
            <a:ext cx="137160" cy="137160"/>
          </a:xfrm>
          <a:prstGeom prst="ellipse">
            <a:avLst/>
          </a:prstGeom>
          <a:solidFill>
            <a:srgbClr val="8E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03920" y="49743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à trois semaines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302752" y="5303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S46 — réception des v1 complètes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S47 — fin des contrôles qualité Groupe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S48 — livraison des v2 filiales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D'AVANCEMENT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Comité projet Filiales — tableau de bord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par entité autonome. Trame hebdomadaire, données d'exemple à remplacer.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·   Projet LRMP — pack comitologie et suivi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005840"/>
                <a:gridCol w="1143000"/>
                <a:gridCol w="1143000"/>
                <a:gridCol w="548640"/>
                <a:gridCol w="1143000"/>
                <a:gridCol w="1143000"/>
                <a:gridCol w="254203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Itér.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bloquant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l'heure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l'heure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Calibrage des chocs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 tension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intragroupe non appariés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 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Non démarré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Non démarré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retard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0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temps des données non disponible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 Bahamas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B3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Non démarré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 tension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de transférabilité à confirmer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41648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la colonne Référent par le nom du correspondant désigné dans chaque entité.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343400"/>
            <a:ext cx="3630168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4562856"/>
            <a:ext cx="137160" cy="13716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7824" y="4507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les plus remontées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4892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mensuelle des projections de trésorerie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traités de réassurance internes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Calibrage local des scénarios de stress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70248" y="4343400"/>
            <a:ext cx="3630168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71416" y="4562856"/>
            <a:ext cx="137160" cy="137160"/>
          </a:xfrm>
          <a:prstGeom prst="ellipse">
            <a:avLst/>
          </a:prstGeom>
          <a:solidFill>
            <a:srgbClr val="8A5A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90872" y="4507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apportée cette semaine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489704" y="4892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bilatérale avec l'entité UK le 10/11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technique sur les mécanismes de règlement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saisonnalité mensuelle diffusé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83296" y="4343400"/>
            <a:ext cx="3630168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4562856"/>
            <a:ext cx="137160" cy="137160"/>
          </a:xfrm>
          <a:prstGeom prst="ellipse">
            <a:avLst/>
          </a:prstGeom>
          <a:solidFill>
            <a:srgbClr val="3C5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03920" y="4507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à prendre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302752" y="4892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Décaler ou non la date de gel des données pour l'UK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 proxy pour les traités non matériels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la seconde itération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E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Registres de décisions et de risques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tableaux tenus en continu par le PMO et présentés à chaque comité projet.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·   Projet LRMP — pack comitologie et suivi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des décisions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6885432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Arrêté retenu pour le dry-run : 30/06/2026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 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court terme seul pour l'exercice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 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Asymétrie de la vue fongibilité : déficits à 100 %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 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65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Hypothèse de transférabilité pour les Bahamas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 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des risques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12772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914400"/>
                <a:gridCol w="109728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E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de la réassurance interne non documentée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Réassurance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 de matérialité à 80 % des flux, proxy au-delà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temps du modèle ALM inadapté au court terme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E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Bascule vers les prévisions de trésorerie, pont documenté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Obligation solo des filiales EEE à compter de janvier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Saisine des superviseurs locaux au T4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tardive du RTS au Journal officiel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Veille mensuelle, note méthodologique versionnée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comitologie et suivi LRMP</dc:title>
  <dc:subject>PptxGenJS Presentation</dc:subject>
  <dc:creator>Projet LRMP</dc:creator>
  <cp:lastModifiedBy>Projet LRMP</cp:lastModifiedBy>
  <cp:revision>1</cp:revision>
  <dcterms:created xsi:type="dcterms:W3CDTF">2026-09-18T11:07:30Z</dcterms:created>
  <dcterms:modified xsi:type="dcterms:W3CDTF">2026-09-18T11:07:30Z</dcterms:modified>
</cp:coreProperties>
</file>