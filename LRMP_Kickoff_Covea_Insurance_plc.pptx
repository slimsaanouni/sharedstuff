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afb5edd-36a3-ba5e-8c8d-0bde171ddae8}">
          <p14:sldIdLst>
            <p14:sldId id="256"/>
          </p14:sldIdLst>
        </p14:section>
        <p14:section name="The LRMP" id="{0a84366c-e4e1-3e3a-56d7-c5fe6b1577d2}">
          <p14:sldIdLst>
            <p14:sldId id="257"/>
          </p14:sldIdLst>
        </p14:section>
        <p14:section name="Calendar" id="{1de2de5c-3796-0676-cf2a-1bbdadb8ff00}">
          <p14:sldIdLst>
            <p14:sldId id="258"/>
          </p14:sldIdLst>
        </p14:section>
        <p14:section name="Our needs" id="{755a7a61-9273-9e26-a813-62e6cf769372}">
          <p14:sldIdLst>
            <p14:sldId id="259"/>
          </p14:sldIdLst>
        </p14:section>
        <p14:section name="Assumptions" id="{c3123180-0ce0-8ca1-5c5b-65f1135b4ca7}">
          <p14:sldIdLst>
            <p14:sldId id="260"/>
          </p14:sldIdLst>
        </p14:section>
        <p14:section name="Reporting" id="{228017e0-4461-1431-1213-193cea0c2f38}">
          <p14:sldIdLst>
            <p14:sldId id="261"/>
          </p14:sldIdLst>
        </p14:section>
        <p14:section name="Next steps" id="{da960cb0-5292-984d-77f5-08d3a68d89f0}">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and timing (45 min): introduction 2 min; what the LRMP is 8 min; Group calendar 5 min; what we need from you 6 min; assumptions already secured 4 min; reporting mock-up walkthrough 10 min; next steps 3 min; your questions 7 min. Purpose of the session: explain the LRMP, share the calendar, agree what we need from Covéa Insurance, and walk through the reporting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LRMP (8 min, including what it means for Covéa Insurance). Key message: it is a plan, not a single ratio. It projects cash inflows and outflows, the buffer of liquid assets and liquidity risk indicators, under normal and stressed conditions. Two horizons: short term (up to 3 months) and medium/long term (beyond 3 months). It is drawn up by insurers and also at group level (Art. 246a): the Group submits one plan to the ACPR, built from each entity's inputs, and updates it at least annually and after any significant change. Two UK-specific points: even if the PRA does not require a stand-alone LRMP, the Group needs your data; we will agree currency and conversion conventions (GBP/EUR). The six sections come from the draft technical standards (RTS, Art. 3). Status: the RTS were submitted to the Commission in November 2025 and formal adoption was still pending when this deck was written - re-check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agenda (5 min). Walk down the seven phases. 2026 Q3 kick-off: legal perimeter finalised, subsidiary reporting doctrine, governance and committee framework, subsidiary reporting templates validated and communicated (deliverables: scoping note, target template). 2026 Q4 methodology: development of production tools, workshops with subsidiaries, justification of impacting assumptions - consolidation at sub-group level for PRE, stress for each subsidiary (deliverable: approved methodology package). 2027 Q1 intragroup: modelling of intragroup cash flows including internal reinsurance, assessment of transferability and intragroup liquidity support, listing of solo LRMP requirements for foreign subsidiaries; the LRMP requirement takes effect on 30/01/2027 (deliverables: intragroup CF modelling, LRMP dry-run package). 2027 Q2 dry run: consolidation of results, Group/subsidiary iterations where necessary, short-term and medium/long-term horizons (deliverable: complete LRMP draft for ST + MLT stress). 2027 Q3 post-mortem: same activities (deliverables: LRMP roadmap for first submission, new run calendar). 2027 Q4 validation and submission: ROC in December; Audit and Risk Committee about 5 May; Board about 12 May; submission within 2 weeks; ONEGATE submission; quarterly production (deliverable: short-term LRMP submitted to the ACPR). 2028 annual rollover: preparation and production of the MLT LRMP, transition to the annual reporting cycle (deliverable: LRMP ST + MLT). Key messages are in the bottom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need from you (6 min). Three inputs, all due on 1 December 2026. (1) Check with your regulator whether a stand-alone LRMP is required, and give us the answer and the reference. (2) A short note on the transferability and fungibility of own funds: legal, regulatory, tax and currency constraints, ring-fenced or restricted funds, dividend approvals, time needed to transfer. (3) An inventory of the liquidity reporting you already produce (report, recipient, frequency, horizon, content), with stress shocks aligned to it - or at least to your ORSA and the Group's preventive recovery plan (PPR) scenarios. Remind them that, whatever the regulator's answer, the Group needs their data for its own plan, and that currency conventions (GBP/EUR) will be agreed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already secured (4 min). Short-term horizon is 3 months; medium/long-term horizon is 1 year. A liquidity indicator is already built and calculated on the Group side: (inflows + liquidity buffer) / outflows. Stress scenarios start from the Group's preventive recovery plan (PPR) scenarios, and your proposals will be compared with them. Update rhythm: short term quarterly, medium/long term annual.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template and walkthrough (10 min). Four blocks: (1) Methodology and user guide - sheets ReadMe and Assumptions: practical translation of the EIOPA RTS, traceability to the provisions, guidance for contributors, targeted simplifications, built-in consistency checks, glossary. (2) Projections and liquidity buffer - sheets Cashflows_ST_*, Buffer_ST and LRIs: baseline and stressed projections, regulatory horizon and granularity, documented assumptions and stress calibrations, harmonised classification of liquid assets, methodology frozen for the dry run (enhancements possible after entity feedback), automated short-term liquidity indicators once stabilised. (3) Qualitative information - sheets Assumptions and Other_Info: liquidity constraints, intragroup liquidity support arrangements, qualitative analysis for the supervisory assessment. (4) Other attention points: internal reinsurance cash flows by counterparty entity; legal, regulatory or operational constraints on transferability of liquidity across jurisdictions. Ask for validation of the template and for methodology gaps and anticipated challenges. Then open the embedded mock-up and walk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(3 min) then questions (7 min). Ways of working: a named correspondent in Covéa Insurance, touchpoints every two months and weekly during the dry run, a support kit shared in Q1 2027, questions at any time to the Group LRMP project team, and escalation to the Group steering committee if needed. Go through the action table and confirm owners and dates - only 1 December is fixed, the other dates are proposals. During questions: capture each question and its owner, and send written answers within the week. Add the project manager's contact details in the bottom band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37376"/>
            <a:ext cx="8229600" cy="228600"/>
          </a:xfrm>
          <a:prstGeom prst="rect">
            <a:avLst/>
          </a:prstGeom>
          <a:noFill/>
          <a:ln/>
        </p:spPr>
        <p:txBody>
          <a:bodyPr wrap="square" lIns="0" tIns="0" rIns="0" bIns="0" rtlCol="0" anchor="ctr"/>
          <a:lstStyle/>
          <a:p>
            <a:pPr indent="0" marL="0">
              <a:buNone/>
            </a:pPr>
            <a:r>
              <a:rPr lang="en-US" sz="1000" dirty="0">
                <a:solidFill>
                  <a:schemeClr val="tx2"/>
                </a:solidFill>
              </a:rPr>
              <a:t>Covéa Group  ·  LRMP kick-off with Covéa Insurance plc  ·  3 November 2026</a:t>
            </a:r>
            <a:endParaRPr lang="en-US" sz="1000" dirty="0"/>
          </a:p>
        </p:txBody>
      </p:sp>
      <p:sp>
        <p:nvSpPr>
          <p:cNvPr id="3" name="Text 1"/>
          <p:cNvSpPr/>
          <p:nvPr>
            <p:ph idx="101" type="body" hasCustomPrompt="1"/>
          </p:nvPr>
        </p:nvSpPr>
        <p:spPr>
          <a:xfrm>
            <a:off x="457200" y="292608"/>
            <a:ext cx="8229600" cy="256032"/>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57200" y="548640"/>
            <a:ext cx="11274552"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5" name="Text 1"/>
          <p:cNvSpPr/>
          <p:nvPr>
            <p:ph idx="103" type="body" hasCustomPrompt="1"/>
          </p:nvPr>
        </p:nvSpPr>
        <p:spPr>
          <a:xfrm>
            <a:off x="457200" y="1188720"/>
            <a:ext cx="11274552" cy="329184"/>
          </a:xfrm>
          <a:prstGeom prst="rect">
            <a:avLst/>
          </a:prstGeom>
          <a:noFill/>
          <a:ln/>
        </p:spPr>
        <p:txBody>
          <a:bodyPr wrap="square" rtlCol="0"/>
          <a:lstStyle>
            <a:lvl1pPr indent="0" marL="0">
              <a:buNone/>
              <a:defRPr lang="en-US" sz="1500" i="1" dirty="0">
                <a:solidFill>
                  <a:schemeClr val="tx2"/>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1A2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058400" cy="274320"/>
          </a:xfrm>
          <a:prstGeom prst="rect">
            <a:avLst/>
          </a:prstGeom>
          <a:noFill/>
          <a:ln/>
        </p:spPr>
        <p:txBody>
          <a:bodyPr wrap="square" rtlCol="0"/>
          <a:lstStyle>
            <a:lvl1pPr indent="0" marL="0">
              <a:buNone/>
              <a:defRPr lang="en-US" sz="1200" b="1" spc="400" kern="0" dirty="0">
                <a:solidFill>
                  <a:srgbClr val="AEBAC4"/>
                </a:solidFill>
              </a:defRPr>
            </a:lvl1pPr>
          </a:lstStyle>
          <a:p>
            <a:pPr indent="0" marL="0">
              <a:buNone/>
            </a:pPr>
            <a:endParaRPr lang="en-US" sz="1200" dirty="0"/>
          </a:p>
        </p:txBody>
      </p:sp>
      <p:sp>
        <p:nvSpPr>
          <p:cNvPr id="3" name="Text 0"/>
          <p:cNvSpPr/>
          <p:nvPr>
            <p:ph idx="101" type="title" hasCustomPrompt="1"/>
          </p:nvPr>
        </p:nvSpPr>
        <p:spPr>
          <a:xfrm>
            <a:off x="731520" y="2194560"/>
            <a:ext cx="10698480" cy="9144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0"/>
          <p:cNvSpPr/>
          <p:nvPr>
            <p:ph idx="102" type="body" hasCustomPrompt="1"/>
          </p:nvPr>
        </p:nvSpPr>
        <p:spPr>
          <a:xfrm>
            <a:off x="731520" y="3246120"/>
            <a:ext cx="8778240" cy="822960"/>
          </a:xfrm>
          <a:prstGeom prst="rect">
            <a:avLst/>
          </a:prstGeom>
          <a:noFill/>
          <a:ln/>
        </p:spPr>
        <p:txBody>
          <a:bodyPr wrap="square" rtlCol="0"/>
          <a:lstStyle>
            <a:lvl1pPr indent="0" marL="0">
              <a:buNone/>
              <a:defRPr lang="en-US" sz="1800" dirty="0">
                <a:solidFill>
                  <a:srgbClr val="AEBAC4"/>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058400" cy="274320"/>
          </a:xfrm>
          <a:prstGeom prst="rect">
            <a:avLst/>
          </a:prstGeom>
          <a:noFill/>
          <a:ln/>
        </p:spPr>
        <p:txBody>
          <a:bodyPr wrap="square" lIns="0" tIns="0" rIns="0" bIns="0" rtlCol="0"/>
          <a:lstStyle/>
          <a:p>
            <a:pPr indent="0" marL="0">
              <a:buNone/>
            </a:pPr>
            <a:r>
              <a:rPr lang="en-US" sz="1200" b="1" spc="400" kern="0" dirty="0">
                <a:solidFill>
                  <a:srgbClr val="AEBAC4"/>
                </a:solidFill>
              </a:rPr>
              <a:t>LRMP PROJECT  ·  KICK-OFF</a:t>
            </a:r>
            <a:endParaRPr lang="en-US" sz="1200" dirty="0"/>
          </a:p>
        </p:txBody>
      </p:sp>
      <p:sp>
        <p:nvSpPr>
          <p:cNvPr id="3" name="Text 0"/>
          <p:cNvSpPr/>
          <p:nvPr>
            <p:ph idx="101" type="title" hasCustomPrompt="1"/>
          </p:nvPr>
        </p:nvSpPr>
        <p:spPr>
          <a:xfrm>
            <a:off x="731520" y="2194560"/>
            <a:ext cx="10698480" cy="914400"/>
          </a:xfrm>
          <a:prstGeom prst="rect">
            <a:avLst/>
          </a:prstGeom>
          <a:noFill/>
          <a:ln/>
        </p:spPr>
        <p:txBody>
          <a:bodyPr wrap="square" lIns="0" tIns="0" rIns="0" bIns="0" rtlCol="0" anchor="ctr"/>
          <a:lstStyle/>
          <a:p>
            <a:pPr algn="l" indent="0" marL="0">
              <a:buNone/>
            </a:pPr>
            <a:r>
              <a:rPr lang="en-US" sz="4200" b="1" dirty="0">
                <a:solidFill>
                  <a:schemeClr val="bg1"/>
                </a:solidFill>
              </a:rPr>
              <a:t>Liquidity Risk Management Plan</a:t>
            </a:r>
            <a:endParaRPr lang="en-US" sz="4200" dirty="0"/>
          </a:p>
        </p:txBody>
      </p:sp>
      <p:sp>
        <p:nvSpPr>
          <p:cNvPr id="4" name="Text 0"/>
          <p:cNvSpPr/>
          <p:nvPr>
            <p:ph idx="102" type="body" hasCustomPrompt="1"/>
          </p:nvPr>
        </p:nvSpPr>
        <p:spPr>
          <a:xfrm>
            <a:off x="731520" y="3246120"/>
            <a:ext cx="8778240" cy="822960"/>
          </a:xfrm>
          <a:prstGeom prst="rect">
            <a:avLst/>
          </a:prstGeom>
          <a:noFill/>
          <a:ln/>
        </p:spPr>
        <p:txBody>
          <a:bodyPr wrap="square" lIns="0" tIns="0" rIns="0" bIns="0" rtlCol="0" anchor="t"/>
          <a:lstStyle/>
          <a:p>
            <a:pPr indent="0" marL="0">
              <a:buNone/>
            </a:pPr>
            <a:r>
              <a:rPr lang="en-US" sz="1800" dirty="0">
                <a:solidFill>
                  <a:srgbClr val="AEBAC4"/>
                </a:solidFill>
              </a:rPr>
              <a:t>Kick-off with Covéa Insurance plc</a:t>
            </a:r>
            <a:endParaRPr lang="en-US" sz="1800" dirty="0"/>
          </a:p>
        </p:txBody>
      </p:sp>
      <p:sp>
        <p:nvSpPr>
          <p:cNvPr id="5" name="Rule 1"/>
          <p:cNvSpPr/>
          <p:nvPr/>
        </p:nvSpPr>
        <p:spPr>
          <a:xfrm>
            <a:off x="731520" y="4800600"/>
            <a:ext cx="548640" cy="0"/>
          </a:xfrm>
          <a:prstGeom prst="line">
            <a:avLst/>
          </a:prstGeom>
          <a:noFill/>
          <a:ln w="38100">
            <a:solidFill>
              <a:schemeClr val="accent1"/>
            </a:solidFill>
            <a:prstDash val="solid"/>
          </a:ln>
        </p:spPr>
      </p:sp>
      <p:sp>
        <p:nvSpPr>
          <p:cNvPr id="6" name="Meta label 1"/>
          <p:cNvSpPr txBox="1"/>
          <p:nvPr/>
        </p:nvSpPr>
        <p:spPr>
          <a:xfrm>
            <a:off x="731520" y="4937760"/>
            <a:ext cx="3291840" cy="256032"/>
          </a:xfrm>
          <a:prstGeom prst="rect">
            <a:avLst/>
          </a:prstGeom>
          <a:noFill/>
          <a:ln/>
        </p:spPr>
        <p:txBody>
          <a:bodyPr wrap="square" lIns="0" tIns="0" rIns="0" bIns="0" rtlCol="0" anchor="t"/>
          <a:lstStyle/>
          <a:p>
            <a:pPr indent="0" marL="0">
              <a:buNone/>
            </a:pPr>
            <a:r>
              <a:rPr lang="en-US" sz="1100" b="1" spc="300" kern="0" dirty="0">
                <a:solidFill>
                  <a:srgbClr val="8E9AA5"/>
                </a:solidFill>
              </a:rPr>
              <a:t>DATE</a:t>
            </a:r>
            <a:endParaRPr lang="en-US" sz="1100" dirty="0"/>
          </a:p>
        </p:txBody>
      </p:sp>
      <p:sp>
        <p:nvSpPr>
          <p:cNvPr id="7" name="Meta value 1"/>
          <p:cNvSpPr txBox="1"/>
          <p:nvPr/>
        </p:nvSpPr>
        <p:spPr>
          <a:xfrm>
            <a:off x="731520" y="5230368"/>
            <a:ext cx="3474720" cy="365760"/>
          </a:xfrm>
          <a:prstGeom prst="rect">
            <a:avLst/>
          </a:prstGeom>
          <a:noFill/>
          <a:ln/>
        </p:spPr>
        <p:txBody>
          <a:bodyPr wrap="square" lIns="0" tIns="0" rIns="0" bIns="0" rtlCol="0" anchor="t"/>
          <a:lstStyle/>
          <a:p>
            <a:pPr indent="0" marL="0">
              <a:buNone/>
            </a:pPr>
            <a:r>
              <a:rPr lang="en-US" sz="1600" b="1" dirty="0">
                <a:solidFill>
                  <a:schemeClr val="bg1"/>
                </a:solidFill>
              </a:rPr>
              <a:t>3 November 2026</a:t>
            </a:r>
            <a:endParaRPr lang="en-US" sz="1600" dirty="0"/>
          </a:p>
        </p:txBody>
      </p:sp>
      <p:sp>
        <p:nvSpPr>
          <p:cNvPr id="8" name="Rule 2"/>
          <p:cNvSpPr/>
          <p:nvPr/>
        </p:nvSpPr>
        <p:spPr>
          <a:xfrm>
            <a:off x="4480560" y="4800600"/>
            <a:ext cx="548640" cy="0"/>
          </a:xfrm>
          <a:prstGeom prst="line">
            <a:avLst/>
          </a:prstGeom>
          <a:noFill/>
          <a:ln w="38100">
            <a:solidFill>
              <a:schemeClr val="accent1"/>
            </a:solidFill>
            <a:prstDash val="solid"/>
          </a:ln>
        </p:spPr>
      </p:sp>
      <p:sp>
        <p:nvSpPr>
          <p:cNvPr id="9" name="Meta label 2"/>
          <p:cNvSpPr txBox="1"/>
          <p:nvPr/>
        </p:nvSpPr>
        <p:spPr>
          <a:xfrm>
            <a:off x="4480560" y="4937760"/>
            <a:ext cx="3291840" cy="256032"/>
          </a:xfrm>
          <a:prstGeom prst="rect">
            <a:avLst/>
          </a:prstGeom>
          <a:noFill/>
          <a:ln/>
        </p:spPr>
        <p:txBody>
          <a:bodyPr wrap="square" lIns="0" tIns="0" rIns="0" bIns="0" rtlCol="0" anchor="t"/>
          <a:lstStyle/>
          <a:p>
            <a:pPr indent="0" marL="0">
              <a:buNone/>
            </a:pPr>
            <a:r>
              <a:rPr lang="en-US" sz="1100" b="1" spc="300" kern="0" dirty="0">
                <a:solidFill>
                  <a:srgbClr val="8E9AA5"/>
                </a:solidFill>
              </a:rPr>
              <a:t>FORMAT</a:t>
            </a:r>
            <a:endParaRPr lang="en-US" sz="1100" dirty="0"/>
          </a:p>
        </p:txBody>
      </p:sp>
      <p:sp>
        <p:nvSpPr>
          <p:cNvPr id="10" name="Meta value 2"/>
          <p:cNvSpPr txBox="1"/>
          <p:nvPr/>
        </p:nvSpPr>
        <p:spPr>
          <a:xfrm>
            <a:off x="4480560" y="5230368"/>
            <a:ext cx="3474720" cy="365760"/>
          </a:xfrm>
          <a:prstGeom prst="rect">
            <a:avLst/>
          </a:prstGeom>
          <a:noFill/>
          <a:ln/>
        </p:spPr>
        <p:txBody>
          <a:bodyPr wrap="square" lIns="0" tIns="0" rIns="0" bIns="0" rtlCol="0" anchor="t"/>
          <a:lstStyle/>
          <a:p>
            <a:pPr indent="0" marL="0">
              <a:buNone/>
            </a:pPr>
            <a:r>
              <a:rPr lang="en-US" sz="1600" b="1" dirty="0">
                <a:solidFill>
                  <a:schemeClr val="bg1"/>
                </a:solidFill>
              </a:rPr>
              <a:t>Kick-off meeting  ·  45 minutes</a:t>
            </a:r>
            <a:endParaRPr lang="en-US" sz="1600" dirty="0"/>
          </a:p>
        </p:txBody>
      </p:sp>
      <p:sp>
        <p:nvSpPr>
          <p:cNvPr id="11" name="Rule 3"/>
          <p:cNvSpPr/>
          <p:nvPr/>
        </p:nvSpPr>
        <p:spPr>
          <a:xfrm>
            <a:off x="8229600" y="4800600"/>
            <a:ext cx="548640" cy="0"/>
          </a:xfrm>
          <a:prstGeom prst="line">
            <a:avLst/>
          </a:prstGeom>
          <a:noFill/>
          <a:ln w="38100">
            <a:solidFill>
              <a:schemeClr val="accent1"/>
            </a:solidFill>
            <a:prstDash val="solid"/>
          </a:ln>
        </p:spPr>
      </p:sp>
      <p:sp>
        <p:nvSpPr>
          <p:cNvPr id="12" name="Meta label 3"/>
          <p:cNvSpPr txBox="1"/>
          <p:nvPr/>
        </p:nvSpPr>
        <p:spPr>
          <a:xfrm>
            <a:off x="8229600" y="4937760"/>
            <a:ext cx="3291840" cy="256032"/>
          </a:xfrm>
          <a:prstGeom prst="rect">
            <a:avLst/>
          </a:prstGeom>
          <a:noFill/>
          <a:ln/>
        </p:spPr>
        <p:txBody>
          <a:bodyPr wrap="square" lIns="0" tIns="0" rIns="0" bIns="0" rtlCol="0" anchor="t"/>
          <a:lstStyle/>
          <a:p>
            <a:pPr indent="0" marL="0">
              <a:buNone/>
            </a:pPr>
            <a:r>
              <a:rPr lang="en-US" sz="1100" b="1" spc="300" kern="0" dirty="0">
                <a:solidFill>
                  <a:srgbClr val="8E9AA5"/>
                </a:solidFill>
              </a:rPr>
              <a:t>PRESENTED BY</a:t>
            </a:r>
            <a:endParaRPr lang="en-US" sz="1100" dirty="0"/>
          </a:p>
        </p:txBody>
      </p:sp>
      <p:sp>
        <p:nvSpPr>
          <p:cNvPr id="13" name="Meta value 3"/>
          <p:cNvSpPr txBox="1"/>
          <p:nvPr/>
        </p:nvSpPr>
        <p:spPr>
          <a:xfrm>
            <a:off x="8229600" y="5230368"/>
            <a:ext cx="3474720" cy="365760"/>
          </a:xfrm>
          <a:prstGeom prst="rect">
            <a:avLst/>
          </a:prstGeom>
          <a:noFill/>
          <a:ln/>
        </p:spPr>
        <p:txBody>
          <a:bodyPr wrap="square" lIns="0" tIns="0" rIns="0" bIns="0" rtlCol="0" anchor="t"/>
          <a:lstStyle/>
          <a:p>
            <a:pPr indent="0" marL="0">
              <a:buNone/>
            </a:pPr>
            <a:r>
              <a:rPr lang="en-US" sz="1600" b="1" dirty="0">
                <a:solidFill>
                  <a:schemeClr val="bg1"/>
                </a:solidFill>
              </a:rPr>
              <a:t>Covéa Group, LRMP project team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THE LRMP</a:t>
            </a:r>
            <a:endParaRPr lang="en-US" sz="1100" dirty="0"/>
          </a:p>
        </p:txBody>
      </p:sp>
      <p:sp>
        <p:nvSpPr>
          <p:cNvPr id="3" name="Text 1"/>
          <p:cNvSpPr/>
          <p:nvPr>
            <p:ph idx="102" type="title" hasCustomPrompt="1"/>
          </p:nvPr>
        </p:nvSpPr>
        <p:spPr>
          <a:xfrm>
            <a:off x="457200" y="548640"/>
            <a:ext cx="11274552" cy="640080"/>
          </a:xfrm>
          <a:prstGeom prst="rect">
            <a:avLst/>
          </a:prstGeom>
          <a:noFill/>
          <a:ln/>
        </p:spPr>
        <p:txBody>
          <a:bodyPr wrap="square" lIns="0" tIns="0" rIns="0" bIns="0" rtlCol="0" anchor="ctr"/>
          <a:lstStyle/>
          <a:p>
            <a:pPr algn="l" indent="0" marL="0">
              <a:buNone/>
            </a:pPr>
            <a:r>
              <a:rPr lang="en-US" sz="3000" b="1" dirty="0">
                <a:solidFill>
                  <a:schemeClr val="tx1"/>
                </a:solidFill>
              </a:rPr>
              <a:t>A forward-looking plan to manage liquidity risk</a:t>
            </a:r>
            <a:endParaRPr lang="en-US" sz="3000" dirty="0"/>
          </a:p>
        </p:txBody>
      </p:sp>
      <p:sp>
        <p:nvSpPr>
          <p:cNvPr id="4" name="Text 1"/>
          <p:cNvSpPr/>
          <p:nvPr>
            <p:ph idx="103" type="body" hasCustomPrompt="1"/>
          </p:nvPr>
        </p:nvSpPr>
        <p:spPr>
          <a:xfrm>
            <a:off x="457200" y="1188720"/>
            <a:ext cx="11274552" cy="329184"/>
          </a:xfrm>
          <a:prstGeom prst="rect">
            <a:avLst/>
          </a:prstGeom>
          <a:noFill/>
          <a:ln/>
        </p:spPr>
        <p:txBody>
          <a:bodyPr wrap="square" lIns="0" tIns="0" rIns="0" bIns="0" rtlCol="0" anchor="ctr"/>
          <a:lstStyle/>
          <a:p>
            <a:pPr indent="0" marL="0">
              <a:buNone/>
            </a:pPr>
            <a:r>
              <a:rPr lang="en-US" sz="1500" i="1" dirty="0">
                <a:solidFill>
                  <a:schemeClr val="tx2"/>
                </a:solidFill>
              </a:rPr>
              <a:t>Solvency II review (Directive (EU) 2025/2), applicable from 30 January 2027.</a:t>
            </a:r>
            <a:endParaRPr lang="en-US" sz="1500" dirty="0"/>
          </a:p>
        </p:txBody>
      </p:sp>
      <p:sp>
        <p:nvSpPr>
          <p:cNvPr id="6" name="Card 1 body"/>
          <p:cNvSpPr/>
          <p:nvPr/>
        </p:nvSpPr>
        <p:spPr>
          <a:xfrm>
            <a:off x="457200" y="1783080"/>
            <a:ext cx="3575304" cy="2103120"/>
          </a:xfrm>
          <a:prstGeom prst="rect">
            <a:avLst/>
          </a:prstGeom>
          <a:solidFill>
            <a:schemeClr val="bg1"/>
          </a:solidFill>
          <a:ln w="9525">
            <a:solidFill>
              <a:srgbClr val="D5DDE3"/>
            </a:solidFill>
            <a:prstDash val="solid"/>
          </a:ln>
        </p:spPr>
      </p:sp>
      <p:sp>
        <p:nvSpPr>
          <p:cNvPr id="7" name="Card 1 header"/>
          <p:cNvSpPr txBox="1"/>
          <p:nvPr/>
        </p:nvSpPr>
        <p:spPr>
          <a:xfrm>
            <a:off x="457200" y="1783080"/>
            <a:ext cx="3575304" cy="502920"/>
          </a:xfrm>
          <a:prstGeom prst="rect">
            <a:avLst/>
          </a:prstGeom>
          <a:solidFill>
            <a:schemeClr val="accent1"/>
          </a:solidFill>
          <a:ln/>
        </p:spPr>
        <p:txBody>
          <a:bodyPr wrap="square" lIns="177800" tIns="0" rIns="177800" bIns="0" rtlCol="0" anchor="ctr"/>
          <a:lstStyle/>
          <a:p>
            <a:pPr indent="0" marL="0">
              <a:buNone/>
            </a:pPr>
            <a:r>
              <a:rPr lang="en-US" sz="1800" b="1" dirty="0">
                <a:solidFill>
                  <a:schemeClr val="bg1"/>
                </a:solidFill>
                <a:latin typeface="+mj-lt" pitchFamily="34" charset="0"/>
                <a:ea typeface="+mj-lt" pitchFamily="34" charset="-122"/>
                <a:cs typeface="+mj-lt" pitchFamily="34" charset="-120"/>
              </a:rPr>
              <a:t>What it is</a:t>
            </a:r>
            <a:endParaRPr lang="en-US" sz="1800" dirty="0"/>
          </a:p>
        </p:txBody>
      </p:sp>
      <p:sp>
        <p:nvSpPr>
          <p:cNvPr id="8" name="Card 1 text"/>
          <p:cNvSpPr txBox="1"/>
          <p:nvPr/>
        </p:nvSpPr>
        <p:spPr>
          <a:xfrm>
            <a:off x="685800" y="2514600"/>
            <a:ext cx="3118104" cy="1371600"/>
          </a:xfrm>
          <a:prstGeom prst="rect">
            <a:avLst/>
          </a:prstGeom>
          <a:noFill/>
          <a:ln/>
        </p:spPr>
        <p:txBody>
          <a:bodyPr wrap="square" lIns="0" tIns="0" rIns="0" bIns="0" rtlCol="0" anchor="t"/>
          <a:lstStyle/>
          <a:p>
            <a:pPr indent="0" marL="0">
              <a:buNone/>
            </a:pPr>
            <a:r>
              <a:rPr lang="en-US" sz="1700" dirty="0">
                <a:solidFill>
                  <a:schemeClr val="tx1"/>
                </a:solidFill>
              </a:rPr>
              <a:t>Projects cash inflows, outflows and liquid assets, under normal and stressed conditions.</a:t>
            </a:r>
            <a:endParaRPr lang="en-US" sz="1700" dirty="0"/>
          </a:p>
        </p:txBody>
      </p:sp>
      <p:sp>
        <p:nvSpPr>
          <p:cNvPr id="9" name="Card 2 body"/>
          <p:cNvSpPr/>
          <p:nvPr/>
        </p:nvSpPr>
        <p:spPr>
          <a:xfrm>
            <a:off x="4306824" y="1783080"/>
            <a:ext cx="3575304" cy="2103120"/>
          </a:xfrm>
          <a:prstGeom prst="rect">
            <a:avLst/>
          </a:prstGeom>
          <a:solidFill>
            <a:schemeClr val="bg1"/>
          </a:solidFill>
          <a:ln w="9525">
            <a:solidFill>
              <a:srgbClr val="D5DDE3"/>
            </a:solidFill>
            <a:prstDash val="solid"/>
          </a:ln>
        </p:spPr>
      </p:sp>
      <p:sp>
        <p:nvSpPr>
          <p:cNvPr id="10" name="Card 2 header"/>
          <p:cNvSpPr txBox="1"/>
          <p:nvPr/>
        </p:nvSpPr>
        <p:spPr>
          <a:xfrm>
            <a:off x="4306824" y="1783080"/>
            <a:ext cx="3575304" cy="502920"/>
          </a:xfrm>
          <a:prstGeom prst="rect">
            <a:avLst/>
          </a:prstGeom>
          <a:solidFill>
            <a:schemeClr val="accent2"/>
          </a:solidFill>
          <a:ln/>
        </p:spPr>
        <p:txBody>
          <a:bodyPr wrap="square" lIns="177800" tIns="0" rIns="177800" bIns="0" rtlCol="0" anchor="ctr"/>
          <a:lstStyle/>
          <a:p>
            <a:pPr indent="0" marL="0">
              <a:buNone/>
            </a:pPr>
            <a:r>
              <a:rPr lang="en-US" sz="1800" b="1" dirty="0">
                <a:solidFill>
                  <a:schemeClr val="bg1"/>
                </a:solidFill>
                <a:latin typeface="+mj-lt" pitchFamily="34" charset="0"/>
                <a:ea typeface="+mj-lt" pitchFamily="34" charset="-122"/>
                <a:cs typeface="+mj-lt" pitchFamily="34" charset="-120"/>
              </a:rPr>
              <a:t>Two time horizons</a:t>
            </a:r>
            <a:endParaRPr lang="en-US" sz="1800" dirty="0"/>
          </a:p>
        </p:txBody>
      </p:sp>
      <p:sp>
        <p:nvSpPr>
          <p:cNvPr id="11" name="Card 2 text"/>
          <p:cNvSpPr txBox="1"/>
          <p:nvPr/>
        </p:nvSpPr>
        <p:spPr>
          <a:xfrm>
            <a:off x="4535424" y="2514600"/>
            <a:ext cx="3118104" cy="1371600"/>
          </a:xfrm>
          <a:prstGeom prst="rect">
            <a:avLst/>
          </a:prstGeom>
          <a:noFill/>
          <a:ln/>
        </p:spPr>
        <p:txBody>
          <a:bodyPr wrap="square" lIns="0" tIns="0" rIns="0" bIns="0" rtlCol="0" anchor="t"/>
          <a:lstStyle/>
          <a:p>
            <a:pPr indent="0" marL="0">
              <a:buNone/>
            </a:pPr>
            <a:r>
              <a:rPr lang="en-US" sz="1700" dirty="0">
                <a:solidFill>
                  <a:schemeClr val="tx1"/>
                </a:solidFill>
              </a:rPr>
              <a:t>Short term: up to 3 months. Medium/long term: beyond 3 months.</a:t>
            </a:r>
            <a:endParaRPr lang="en-US" sz="1700" dirty="0"/>
          </a:p>
        </p:txBody>
      </p:sp>
      <p:sp>
        <p:nvSpPr>
          <p:cNvPr id="12" name="Card 3 body"/>
          <p:cNvSpPr/>
          <p:nvPr/>
        </p:nvSpPr>
        <p:spPr>
          <a:xfrm>
            <a:off x="8156448" y="1783080"/>
            <a:ext cx="3575304" cy="2103120"/>
          </a:xfrm>
          <a:prstGeom prst="rect">
            <a:avLst/>
          </a:prstGeom>
          <a:solidFill>
            <a:schemeClr val="bg1"/>
          </a:solidFill>
          <a:ln w="9525">
            <a:solidFill>
              <a:srgbClr val="D5DDE3"/>
            </a:solidFill>
            <a:prstDash val="solid"/>
          </a:ln>
        </p:spPr>
      </p:sp>
      <p:sp>
        <p:nvSpPr>
          <p:cNvPr id="13" name="Card 3 header"/>
          <p:cNvSpPr txBox="1"/>
          <p:nvPr/>
        </p:nvSpPr>
        <p:spPr>
          <a:xfrm>
            <a:off x="8156448" y="1783080"/>
            <a:ext cx="3575304" cy="502920"/>
          </a:xfrm>
          <a:prstGeom prst="rect">
            <a:avLst/>
          </a:prstGeom>
          <a:solidFill>
            <a:schemeClr val="accent3"/>
          </a:solidFill>
          <a:ln/>
        </p:spPr>
        <p:txBody>
          <a:bodyPr wrap="square" lIns="177800" tIns="0" rIns="177800" bIns="0" rtlCol="0" anchor="ctr"/>
          <a:lstStyle/>
          <a:p>
            <a:pPr indent="0" marL="0">
              <a:buNone/>
            </a:pPr>
            <a:r>
              <a:rPr lang="en-US" sz="1800" b="1" dirty="0">
                <a:solidFill>
                  <a:schemeClr val="bg1"/>
                </a:solidFill>
                <a:latin typeface="+mj-lt" pitchFamily="34" charset="0"/>
                <a:ea typeface="+mj-lt" pitchFamily="34" charset="-122"/>
                <a:cs typeface="+mj-lt" pitchFamily="34" charset="-120"/>
              </a:rPr>
              <a:t>Group level</a:t>
            </a:r>
            <a:endParaRPr lang="en-US" sz="1800" dirty="0"/>
          </a:p>
        </p:txBody>
      </p:sp>
      <p:sp>
        <p:nvSpPr>
          <p:cNvPr id="14" name="Card 3 text"/>
          <p:cNvSpPr txBox="1"/>
          <p:nvPr/>
        </p:nvSpPr>
        <p:spPr>
          <a:xfrm>
            <a:off x="8385048" y="2514600"/>
            <a:ext cx="3118104" cy="1371600"/>
          </a:xfrm>
          <a:prstGeom prst="rect">
            <a:avLst/>
          </a:prstGeom>
          <a:noFill/>
          <a:ln/>
        </p:spPr>
        <p:txBody>
          <a:bodyPr wrap="square" lIns="0" tIns="0" rIns="0" bIns="0" rtlCol="0" anchor="t"/>
          <a:lstStyle/>
          <a:p>
            <a:pPr indent="0" marL="0">
              <a:buNone/>
            </a:pPr>
            <a:r>
              <a:rPr lang="en-US" sz="1700" dirty="0">
                <a:solidFill>
                  <a:schemeClr val="tx1"/>
                </a:solidFill>
              </a:rPr>
              <a:t>One Group plan for the ACPR, built from each entity's inputs and updated at least annually.</a:t>
            </a:r>
            <a:endParaRPr lang="en-US" sz="1700" dirty="0"/>
          </a:p>
        </p:txBody>
      </p:sp>
      <p:sp>
        <p:nvSpPr>
          <p:cNvPr id="15" name="Sections label"/>
          <p:cNvSpPr txBox="1"/>
          <p:nvPr/>
        </p:nvSpPr>
        <p:spPr>
          <a:xfrm>
            <a:off x="457200" y="4251960"/>
            <a:ext cx="73152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THE SIX SECTIONS OF AN LRMP</a:t>
            </a:r>
            <a:endParaRPr lang="en-US" sz="1100" dirty="0"/>
          </a:p>
        </p:txBody>
      </p:sp>
      <p:sp>
        <p:nvSpPr>
          <p:cNvPr id="16" name="Section chip 1"/>
          <p:cNvSpPr txBox="1"/>
          <p:nvPr/>
        </p:nvSpPr>
        <p:spPr>
          <a:xfrm>
            <a:off x="457200" y="4617720"/>
            <a:ext cx="1764792" cy="1188720"/>
          </a:xfrm>
          <a:prstGeom prst="rect">
            <a:avLst/>
          </a:prstGeom>
          <a:solidFill>
            <a:schemeClr val="bg2"/>
          </a:solidFill>
          <a:ln w="9525">
            <a:solidFill>
              <a:srgbClr val="D5DDE3"/>
            </a:solidFill>
          </a:ln>
        </p:spPr>
        <p:txBody>
          <a:bodyPr wrap="square" lIns="127000" tIns="76200" rIns="127000" bIns="76200" rtlCol="0" anchor="t"/>
          <a:lstStyle/>
          <a:p>
            <a:pPr indent="0" marL="0">
              <a:buNone/>
            </a:pPr>
            <a:r>
              <a:rPr lang="en-US" sz="2200" b="1" dirty="0">
                <a:solidFill>
                  <a:schemeClr val="accent1"/>
                </a:solidFill>
                <a:latin typeface="+mj-lt" pitchFamily="34" charset="0"/>
                <a:ea typeface="+mj-lt" pitchFamily="34" charset="-122"/>
                <a:cs typeface="+mj-lt" pitchFamily="34" charset="-120"/>
              </a:rPr>
              <a:t>1</a:t>
            </a:r>
            <a:endParaRPr lang="en-US" sz="2200" dirty="0"/>
          </a:p>
          <a:p>
            <a:pPr indent="0" marL="0">
              <a:buNone/>
            </a:pPr>
            <a:r>
              <a:rPr lang="en-US" sz="1400" dirty="0">
                <a:solidFill>
                  <a:schemeClr val="tx1"/>
                </a:solidFill>
              </a:rPr>
              <a:t>Overall assessment</a:t>
            </a:r>
            <a:endParaRPr lang="en-US" sz="2200" dirty="0"/>
          </a:p>
        </p:txBody>
      </p:sp>
      <p:sp>
        <p:nvSpPr>
          <p:cNvPr id="17" name="Section chip 2"/>
          <p:cNvSpPr txBox="1"/>
          <p:nvPr/>
        </p:nvSpPr>
        <p:spPr>
          <a:xfrm>
            <a:off x="2359152" y="4617720"/>
            <a:ext cx="1764792" cy="1188720"/>
          </a:xfrm>
          <a:prstGeom prst="rect">
            <a:avLst/>
          </a:prstGeom>
          <a:solidFill>
            <a:schemeClr val="bg2"/>
          </a:solidFill>
          <a:ln w="9525">
            <a:solidFill>
              <a:srgbClr val="D5DDE3"/>
            </a:solidFill>
          </a:ln>
        </p:spPr>
        <p:txBody>
          <a:bodyPr wrap="square" lIns="127000" tIns="76200" rIns="127000" bIns="76200" rtlCol="0" anchor="t"/>
          <a:lstStyle/>
          <a:p>
            <a:pPr indent="0" marL="0">
              <a:buNone/>
            </a:pPr>
            <a:r>
              <a:rPr lang="en-US" sz="2200" b="1" dirty="0">
                <a:solidFill>
                  <a:schemeClr val="accent1"/>
                </a:solidFill>
                <a:latin typeface="+mj-lt" pitchFamily="34" charset="0"/>
                <a:ea typeface="+mj-lt" pitchFamily="34" charset="-122"/>
                <a:cs typeface="+mj-lt" pitchFamily="34" charset="-120"/>
              </a:rPr>
              <a:t>2</a:t>
            </a:r>
            <a:endParaRPr lang="en-US" sz="2200" dirty="0"/>
          </a:p>
          <a:p>
            <a:pPr indent="0" marL="0">
              <a:buNone/>
            </a:pPr>
            <a:r>
              <a:rPr lang="en-US" sz="1400" dirty="0">
                <a:solidFill>
                  <a:schemeClr val="tx1"/>
                </a:solidFill>
              </a:rPr>
              <a:t>Assumptions</a:t>
            </a:r>
            <a:endParaRPr lang="en-US" sz="2200" dirty="0"/>
          </a:p>
        </p:txBody>
      </p:sp>
      <p:sp>
        <p:nvSpPr>
          <p:cNvPr id="18" name="Section chip 3"/>
          <p:cNvSpPr txBox="1"/>
          <p:nvPr/>
        </p:nvSpPr>
        <p:spPr>
          <a:xfrm>
            <a:off x="4261104" y="4617720"/>
            <a:ext cx="1764792" cy="1188720"/>
          </a:xfrm>
          <a:prstGeom prst="rect">
            <a:avLst/>
          </a:prstGeom>
          <a:solidFill>
            <a:schemeClr val="bg2"/>
          </a:solidFill>
          <a:ln w="9525">
            <a:solidFill>
              <a:srgbClr val="D5DDE3"/>
            </a:solidFill>
          </a:ln>
        </p:spPr>
        <p:txBody>
          <a:bodyPr wrap="square" lIns="127000" tIns="76200" rIns="127000" bIns="76200" rtlCol="0" anchor="t"/>
          <a:lstStyle/>
          <a:p>
            <a:pPr indent="0" marL="0">
              <a:buNone/>
            </a:pPr>
            <a:r>
              <a:rPr lang="en-US" sz="2200" b="1" dirty="0">
                <a:solidFill>
                  <a:schemeClr val="accent1"/>
                </a:solidFill>
                <a:latin typeface="+mj-lt" pitchFamily="34" charset="0"/>
                <a:ea typeface="+mj-lt" pitchFamily="34" charset="-122"/>
                <a:cs typeface="+mj-lt" pitchFamily="34" charset="-120"/>
              </a:rPr>
              <a:t>3</a:t>
            </a:r>
            <a:endParaRPr lang="en-US" sz="2200" dirty="0"/>
          </a:p>
          <a:p>
            <a:pPr indent="0" marL="0">
              <a:buNone/>
            </a:pPr>
            <a:r>
              <a:rPr lang="en-US" sz="1400" dirty="0">
                <a:solidFill>
                  <a:schemeClr val="tx1"/>
                </a:solidFill>
              </a:rPr>
              <a:t>Cash flow projections</a:t>
            </a:r>
            <a:endParaRPr lang="en-US" sz="2200" dirty="0"/>
          </a:p>
        </p:txBody>
      </p:sp>
      <p:sp>
        <p:nvSpPr>
          <p:cNvPr id="19" name="Section chip 4"/>
          <p:cNvSpPr txBox="1"/>
          <p:nvPr/>
        </p:nvSpPr>
        <p:spPr>
          <a:xfrm>
            <a:off x="6163056" y="4617720"/>
            <a:ext cx="1764792" cy="1188720"/>
          </a:xfrm>
          <a:prstGeom prst="rect">
            <a:avLst/>
          </a:prstGeom>
          <a:solidFill>
            <a:schemeClr val="bg2"/>
          </a:solidFill>
          <a:ln w="9525">
            <a:solidFill>
              <a:srgbClr val="D5DDE3"/>
            </a:solidFill>
          </a:ln>
        </p:spPr>
        <p:txBody>
          <a:bodyPr wrap="square" lIns="127000" tIns="76200" rIns="127000" bIns="76200" rtlCol="0" anchor="t"/>
          <a:lstStyle/>
          <a:p>
            <a:pPr indent="0" marL="0">
              <a:buNone/>
            </a:pPr>
            <a:r>
              <a:rPr lang="en-US" sz="2200" b="1" dirty="0">
                <a:solidFill>
                  <a:schemeClr val="accent1"/>
                </a:solidFill>
                <a:latin typeface="+mj-lt" pitchFamily="34" charset="0"/>
                <a:ea typeface="+mj-lt" pitchFamily="34" charset="-122"/>
                <a:cs typeface="+mj-lt" pitchFamily="34" charset="-120"/>
              </a:rPr>
              <a:t>4</a:t>
            </a:r>
            <a:endParaRPr lang="en-US" sz="2200" dirty="0"/>
          </a:p>
          <a:p>
            <a:pPr indent="0" marL="0">
              <a:buNone/>
            </a:pPr>
            <a:r>
              <a:rPr lang="en-US" sz="1400" dirty="0">
                <a:solidFill>
                  <a:schemeClr val="tx1"/>
                </a:solidFill>
              </a:rPr>
              <a:t>Buffers of liquid assets</a:t>
            </a:r>
            <a:endParaRPr lang="en-US" sz="2200" dirty="0"/>
          </a:p>
        </p:txBody>
      </p:sp>
      <p:sp>
        <p:nvSpPr>
          <p:cNvPr id="20" name="Section chip 5"/>
          <p:cNvSpPr txBox="1"/>
          <p:nvPr/>
        </p:nvSpPr>
        <p:spPr>
          <a:xfrm>
            <a:off x="8065008" y="4617720"/>
            <a:ext cx="1764792" cy="1188720"/>
          </a:xfrm>
          <a:prstGeom prst="rect">
            <a:avLst/>
          </a:prstGeom>
          <a:solidFill>
            <a:schemeClr val="bg2"/>
          </a:solidFill>
          <a:ln w="9525">
            <a:solidFill>
              <a:srgbClr val="D5DDE3"/>
            </a:solidFill>
          </a:ln>
        </p:spPr>
        <p:txBody>
          <a:bodyPr wrap="square" lIns="127000" tIns="76200" rIns="127000" bIns="76200" rtlCol="0" anchor="t"/>
          <a:lstStyle/>
          <a:p>
            <a:pPr indent="0" marL="0">
              <a:buNone/>
            </a:pPr>
            <a:r>
              <a:rPr lang="en-US" sz="2200" b="1" dirty="0">
                <a:solidFill>
                  <a:schemeClr val="accent1"/>
                </a:solidFill>
                <a:latin typeface="+mj-lt" pitchFamily="34" charset="0"/>
                <a:ea typeface="+mj-lt" pitchFamily="34" charset="-122"/>
                <a:cs typeface="+mj-lt" pitchFamily="34" charset="-120"/>
              </a:rPr>
              <a:t>5</a:t>
            </a:r>
            <a:endParaRPr lang="en-US" sz="2200" dirty="0"/>
          </a:p>
          <a:p>
            <a:pPr indent="0" marL="0">
              <a:buNone/>
            </a:pPr>
            <a:r>
              <a:rPr lang="en-US" sz="1400" dirty="0">
                <a:solidFill>
                  <a:schemeClr val="tx1"/>
                </a:solidFill>
              </a:rPr>
              <a:t>Liquidity risk indicators</a:t>
            </a:r>
            <a:endParaRPr lang="en-US" sz="2200" dirty="0"/>
          </a:p>
        </p:txBody>
      </p:sp>
      <p:sp>
        <p:nvSpPr>
          <p:cNvPr id="21" name="Section chip 6"/>
          <p:cNvSpPr txBox="1"/>
          <p:nvPr/>
        </p:nvSpPr>
        <p:spPr>
          <a:xfrm>
            <a:off x="9966960" y="4617720"/>
            <a:ext cx="1764792" cy="1188720"/>
          </a:xfrm>
          <a:prstGeom prst="rect">
            <a:avLst/>
          </a:prstGeom>
          <a:solidFill>
            <a:schemeClr val="bg2"/>
          </a:solidFill>
          <a:ln w="9525">
            <a:solidFill>
              <a:srgbClr val="D5DDE3"/>
            </a:solidFill>
          </a:ln>
        </p:spPr>
        <p:txBody>
          <a:bodyPr wrap="square" lIns="127000" tIns="76200" rIns="127000" bIns="76200" rtlCol="0" anchor="t"/>
          <a:lstStyle/>
          <a:p>
            <a:pPr indent="0" marL="0">
              <a:buNone/>
            </a:pPr>
            <a:r>
              <a:rPr lang="en-US" sz="2200" b="1" dirty="0">
                <a:solidFill>
                  <a:schemeClr val="accent1"/>
                </a:solidFill>
                <a:latin typeface="+mj-lt" pitchFamily="34" charset="0"/>
                <a:ea typeface="+mj-lt" pitchFamily="34" charset="-122"/>
                <a:cs typeface="+mj-lt" pitchFamily="34" charset="-120"/>
              </a:rPr>
              <a:t>6</a:t>
            </a:r>
            <a:endParaRPr lang="en-US" sz="2200" dirty="0"/>
          </a:p>
          <a:p>
            <a:pPr indent="0" marL="0">
              <a:buNone/>
            </a:pPr>
            <a:r>
              <a:rPr lang="en-US" sz="1400" dirty="0">
                <a:solidFill>
                  <a:schemeClr val="tx1"/>
                </a:solidFill>
              </a:rPr>
              <a:t>Other information</a:t>
            </a:r>
            <a:endParaRPr lang="en-US" sz="22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GROUP CALENDAR</a:t>
            </a:r>
            <a:endParaRPr lang="en-US" sz="1100" dirty="0"/>
          </a:p>
        </p:txBody>
      </p:sp>
      <p:sp>
        <p:nvSpPr>
          <p:cNvPr id="3" name="Text 1"/>
          <p:cNvSpPr/>
          <p:nvPr>
            <p:ph idx="102" type="title" hasCustomPrompt="1"/>
          </p:nvPr>
        </p:nvSpPr>
        <p:spPr>
          <a:xfrm>
            <a:off x="457200" y="548640"/>
            <a:ext cx="11274552" cy="640080"/>
          </a:xfrm>
          <a:prstGeom prst="rect">
            <a:avLst/>
          </a:prstGeom>
          <a:noFill/>
          <a:ln/>
        </p:spPr>
        <p:txBody>
          <a:bodyPr wrap="square" lIns="0" tIns="0" rIns="0" bIns="0" rtlCol="0" anchor="ctr"/>
          <a:lstStyle/>
          <a:p>
            <a:pPr algn="l" indent="0" marL="0">
              <a:buNone/>
            </a:pPr>
            <a:r>
              <a:rPr lang="en-US" sz="3000" b="1" dirty="0">
                <a:solidFill>
                  <a:schemeClr val="tx1"/>
                </a:solidFill>
              </a:rPr>
              <a:t>Target agenda</a:t>
            </a:r>
            <a:endParaRPr lang="en-US" sz="3000" dirty="0"/>
          </a:p>
        </p:txBody>
      </p:sp>
      <p:sp>
        <p:nvSpPr>
          <p:cNvPr id="4" name="Text 1"/>
          <p:cNvSpPr/>
          <p:nvPr>
            <p:ph idx="103" type="body" hasCustomPrompt="1"/>
          </p:nvPr>
        </p:nvSpPr>
        <p:spPr>
          <a:xfrm>
            <a:off x="457200" y="1188720"/>
            <a:ext cx="11274552" cy="329184"/>
          </a:xfrm>
          <a:prstGeom prst="rect">
            <a:avLst/>
          </a:prstGeom>
          <a:noFill/>
          <a:ln/>
        </p:spPr>
        <p:txBody>
          <a:bodyPr wrap="square" lIns="0" tIns="0" rIns="0" bIns="0" rtlCol="0" anchor="ctr"/>
          <a:lstStyle/>
          <a:p>
            <a:pPr indent="0" marL="0">
              <a:buNone/>
            </a:pPr>
            <a:r>
              <a:rPr lang="en-US" sz="1500" i="1" dirty="0">
                <a:solidFill>
                  <a:schemeClr val="tx2"/>
                </a:solidFill>
              </a:rPr>
              <a:t>Deployment of the LRMP, aligned with the Group Board Committee calendar.</a:t>
            </a:r>
            <a:endParaRPr lang="en-US" sz="1500" dirty="0"/>
          </a:p>
        </p:txBody>
      </p:sp>
      <p:sp>
        <p:nvSpPr>
          <p:cNvPr id="6" name="Column header 1"/>
          <p:cNvSpPr txBox="1"/>
          <p:nvPr/>
        </p:nvSpPr>
        <p:spPr>
          <a:xfrm>
            <a:off x="566928" y="1627632"/>
            <a:ext cx="2743200" cy="228600"/>
          </a:xfrm>
          <a:prstGeom prst="rect">
            <a:avLst/>
          </a:prstGeom>
          <a:noFill/>
          <a:ln/>
        </p:spPr>
        <p:txBody>
          <a:bodyPr wrap="square" lIns="0" tIns="0" rIns="0" bIns="0" rtlCol="0" anchor="t"/>
          <a:lstStyle/>
          <a:p>
            <a:pPr indent="0" marL="0">
              <a:buNone/>
            </a:pPr>
            <a:r>
              <a:rPr lang="en-US" sz="1000" b="1" spc="300" kern="0" dirty="0">
                <a:solidFill>
                  <a:schemeClr val="tx2"/>
                </a:solidFill>
              </a:rPr>
              <a:t>PERIOD</a:t>
            </a:r>
            <a:endParaRPr lang="en-US" sz="1000" dirty="0"/>
          </a:p>
        </p:txBody>
      </p:sp>
      <p:sp>
        <p:nvSpPr>
          <p:cNvPr id="7" name="Column header 2"/>
          <p:cNvSpPr txBox="1"/>
          <p:nvPr/>
        </p:nvSpPr>
        <p:spPr>
          <a:xfrm>
            <a:off x="1874520" y="1627632"/>
            <a:ext cx="2743200" cy="228600"/>
          </a:xfrm>
          <a:prstGeom prst="rect">
            <a:avLst/>
          </a:prstGeom>
          <a:noFill/>
          <a:ln/>
        </p:spPr>
        <p:txBody>
          <a:bodyPr wrap="square" lIns="0" tIns="0" rIns="0" bIns="0" rtlCol="0" anchor="t"/>
          <a:lstStyle/>
          <a:p>
            <a:pPr indent="0" marL="0">
              <a:buNone/>
            </a:pPr>
            <a:r>
              <a:rPr lang="en-US" sz="1000" b="1" spc="300" kern="0" dirty="0">
                <a:solidFill>
                  <a:schemeClr val="tx2"/>
                </a:solidFill>
              </a:rPr>
              <a:t>PHASE</a:t>
            </a:r>
            <a:endParaRPr lang="en-US" sz="1000" dirty="0"/>
          </a:p>
        </p:txBody>
      </p:sp>
      <p:sp>
        <p:nvSpPr>
          <p:cNvPr id="8" name="Column header 3"/>
          <p:cNvSpPr txBox="1"/>
          <p:nvPr/>
        </p:nvSpPr>
        <p:spPr>
          <a:xfrm>
            <a:off x="3520440" y="1627632"/>
            <a:ext cx="2743200" cy="228600"/>
          </a:xfrm>
          <a:prstGeom prst="rect">
            <a:avLst/>
          </a:prstGeom>
          <a:noFill/>
          <a:ln/>
        </p:spPr>
        <p:txBody>
          <a:bodyPr wrap="square" lIns="0" tIns="0" rIns="0" bIns="0" rtlCol="0" anchor="t"/>
          <a:lstStyle/>
          <a:p>
            <a:pPr indent="0" marL="0">
              <a:buNone/>
            </a:pPr>
            <a:r>
              <a:rPr lang="en-US" sz="1000" b="1" spc="300" kern="0" dirty="0">
                <a:solidFill>
                  <a:schemeClr val="tx2"/>
                </a:solidFill>
              </a:rPr>
              <a:t>KEY ACTIVITIES</a:t>
            </a:r>
            <a:endParaRPr lang="en-US" sz="1000" dirty="0"/>
          </a:p>
        </p:txBody>
      </p:sp>
      <p:sp>
        <p:nvSpPr>
          <p:cNvPr id="9" name="Column header 4"/>
          <p:cNvSpPr txBox="1"/>
          <p:nvPr/>
        </p:nvSpPr>
        <p:spPr>
          <a:xfrm>
            <a:off x="9006840" y="1627632"/>
            <a:ext cx="2743200" cy="228600"/>
          </a:xfrm>
          <a:prstGeom prst="rect">
            <a:avLst/>
          </a:prstGeom>
          <a:noFill/>
          <a:ln/>
        </p:spPr>
        <p:txBody>
          <a:bodyPr wrap="square" lIns="0" tIns="0" rIns="0" bIns="0" rtlCol="0" anchor="t"/>
          <a:lstStyle/>
          <a:p>
            <a:pPr indent="0" marL="0">
              <a:buNone/>
            </a:pPr>
            <a:r>
              <a:rPr lang="en-US" sz="1000" b="1" spc="300" kern="0" dirty="0">
                <a:solidFill>
                  <a:schemeClr val="tx2"/>
                </a:solidFill>
              </a:rPr>
              <a:t>DELIVERABLE</a:t>
            </a:r>
            <a:endParaRPr lang="en-US" sz="1000" dirty="0"/>
          </a:p>
        </p:txBody>
      </p:sp>
      <p:sp>
        <p:nvSpPr>
          <p:cNvPr id="10" name="Row band 1"/>
          <p:cNvSpPr/>
          <p:nvPr/>
        </p:nvSpPr>
        <p:spPr>
          <a:xfrm>
            <a:off x="457200" y="1920240"/>
            <a:ext cx="11274552" cy="457200"/>
          </a:xfrm>
          <a:prstGeom prst="rect">
            <a:avLst/>
          </a:prstGeom>
          <a:solidFill>
            <a:schemeClr val="bg2"/>
          </a:solidFill>
          <a:ln/>
        </p:spPr>
      </p:sp>
      <p:sp>
        <p:nvSpPr>
          <p:cNvPr id="11" name="Period 1"/>
          <p:cNvSpPr txBox="1"/>
          <p:nvPr/>
        </p:nvSpPr>
        <p:spPr>
          <a:xfrm>
            <a:off x="548640" y="1956816"/>
            <a:ext cx="12344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2026 Q3</a:t>
            </a:r>
            <a:endParaRPr lang="en-US" sz="1300" dirty="0"/>
          </a:p>
        </p:txBody>
      </p:sp>
      <p:sp>
        <p:nvSpPr>
          <p:cNvPr id="12" name="Phase 1"/>
          <p:cNvSpPr txBox="1"/>
          <p:nvPr/>
        </p:nvSpPr>
        <p:spPr>
          <a:xfrm>
            <a:off x="1874520" y="1920240"/>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Kick-off</a:t>
            </a:r>
            <a:endParaRPr lang="en-US" sz="1400" dirty="0"/>
          </a:p>
        </p:txBody>
      </p:sp>
      <p:sp>
        <p:nvSpPr>
          <p:cNvPr id="13" name="Activities 1"/>
          <p:cNvSpPr txBox="1"/>
          <p:nvPr/>
        </p:nvSpPr>
        <p:spPr>
          <a:xfrm>
            <a:off x="3520440" y="1920240"/>
            <a:ext cx="5349240" cy="457200"/>
          </a:xfrm>
          <a:prstGeom prst="rect">
            <a:avLst/>
          </a:prstGeom>
          <a:noFill/>
          <a:ln/>
        </p:spPr>
        <p:txBody>
          <a:bodyPr wrap="square" lIns="0" tIns="0" rIns="0" bIns="0" rtlCol="0" anchor="ctr"/>
          <a:lstStyle/>
          <a:p>
            <a:pPr indent="0" marL="0">
              <a:buNone/>
            </a:pPr>
            <a:r>
              <a:rPr lang="en-US" sz="1200" dirty="0">
                <a:solidFill>
                  <a:schemeClr val="tx1"/>
                </a:solidFill>
              </a:rPr>
              <a:t>Legal perimeter finalised · Reporting doctrine · Governance and committees · Templates validated and sent to subsidiaries</a:t>
            </a:r>
            <a:endParaRPr lang="en-US" sz="1200" dirty="0"/>
          </a:p>
        </p:txBody>
      </p:sp>
      <p:sp>
        <p:nvSpPr>
          <p:cNvPr id="14" name="Deliverable 1"/>
          <p:cNvSpPr txBox="1"/>
          <p:nvPr/>
        </p:nvSpPr>
        <p:spPr>
          <a:xfrm>
            <a:off x="9006840" y="1920240"/>
            <a:ext cx="2651760" cy="457200"/>
          </a:xfrm>
          <a:prstGeom prst="rect">
            <a:avLst/>
          </a:prstGeom>
          <a:noFill/>
          <a:ln/>
        </p:spPr>
        <p:txBody>
          <a:bodyPr wrap="square" lIns="0" tIns="0" rIns="0" bIns="0" rtlCol="0" anchor="ctr"/>
          <a:lstStyle/>
          <a:p>
            <a:pPr indent="0" marL="0">
              <a:buNone/>
            </a:pPr>
            <a:r>
              <a:rPr lang="en-US" sz="1200" dirty="0">
                <a:solidFill>
                  <a:schemeClr val="tx2"/>
                </a:solidFill>
              </a:rPr>
              <a:t>Scoping note; target template</a:t>
            </a:r>
            <a:endParaRPr lang="en-US" sz="1200" dirty="0"/>
          </a:p>
        </p:txBody>
      </p:sp>
      <p:sp>
        <p:nvSpPr>
          <p:cNvPr id="15" name="Row band 2"/>
          <p:cNvSpPr/>
          <p:nvPr/>
        </p:nvSpPr>
        <p:spPr>
          <a:xfrm>
            <a:off x="457200" y="2414016"/>
            <a:ext cx="11274552" cy="457200"/>
          </a:xfrm>
          <a:prstGeom prst="rect">
            <a:avLst/>
          </a:prstGeom>
          <a:solidFill>
            <a:schemeClr val="bg1"/>
          </a:solidFill>
          <a:ln/>
        </p:spPr>
      </p:sp>
      <p:sp>
        <p:nvSpPr>
          <p:cNvPr id="16" name="Period 2"/>
          <p:cNvSpPr txBox="1"/>
          <p:nvPr/>
        </p:nvSpPr>
        <p:spPr>
          <a:xfrm>
            <a:off x="548640" y="2450592"/>
            <a:ext cx="12344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2026 Q4</a:t>
            </a:r>
            <a:endParaRPr lang="en-US" sz="1300" dirty="0"/>
          </a:p>
        </p:txBody>
      </p:sp>
      <p:sp>
        <p:nvSpPr>
          <p:cNvPr id="17" name="Phase 2"/>
          <p:cNvSpPr txBox="1"/>
          <p:nvPr/>
        </p:nvSpPr>
        <p:spPr>
          <a:xfrm>
            <a:off x="1874520" y="2414016"/>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Methodology</a:t>
            </a:r>
            <a:endParaRPr lang="en-US" sz="1400" dirty="0"/>
          </a:p>
        </p:txBody>
      </p:sp>
      <p:sp>
        <p:nvSpPr>
          <p:cNvPr id="18" name="Activities 2"/>
          <p:cNvSpPr txBox="1"/>
          <p:nvPr/>
        </p:nvSpPr>
        <p:spPr>
          <a:xfrm>
            <a:off x="3520440" y="2414016"/>
            <a:ext cx="5349240" cy="457200"/>
          </a:xfrm>
          <a:prstGeom prst="rect">
            <a:avLst/>
          </a:prstGeom>
          <a:noFill/>
          <a:ln/>
        </p:spPr>
        <p:txBody>
          <a:bodyPr wrap="square" lIns="0" tIns="0" rIns="0" bIns="0" rtlCol="0" anchor="ctr"/>
          <a:lstStyle/>
          <a:p>
            <a:pPr indent="0" marL="0">
              <a:buNone/>
            </a:pPr>
            <a:r>
              <a:rPr lang="en-US" sz="1200" dirty="0">
                <a:solidFill>
                  <a:schemeClr val="tx1"/>
                </a:solidFill>
              </a:rPr>
              <a:t>Production tools developed · Workshops with subsidiaries · Key assumptions justified (stress per subsidiary, sub-group consolidation)</a:t>
            </a:r>
            <a:endParaRPr lang="en-US" sz="1200" dirty="0"/>
          </a:p>
        </p:txBody>
      </p:sp>
      <p:sp>
        <p:nvSpPr>
          <p:cNvPr id="19" name="Deliverable 2"/>
          <p:cNvSpPr txBox="1"/>
          <p:nvPr/>
        </p:nvSpPr>
        <p:spPr>
          <a:xfrm>
            <a:off x="9006840" y="2414016"/>
            <a:ext cx="2651760" cy="457200"/>
          </a:xfrm>
          <a:prstGeom prst="rect">
            <a:avLst/>
          </a:prstGeom>
          <a:noFill/>
          <a:ln/>
        </p:spPr>
        <p:txBody>
          <a:bodyPr wrap="square" lIns="0" tIns="0" rIns="0" bIns="0" rtlCol="0" anchor="ctr"/>
          <a:lstStyle/>
          <a:p>
            <a:pPr indent="0" marL="0">
              <a:buNone/>
            </a:pPr>
            <a:r>
              <a:rPr lang="en-US" sz="1200" dirty="0">
                <a:solidFill>
                  <a:schemeClr val="tx2"/>
                </a:solidFill>
              </a:rPr>
              <a:t>Approved methodology package</a:t>
            </a:r>
            <a:endParaRPr lang="en-US" sz="1200" dirty="0"/>
          </a:p>
        </p:txBody>
      </p:sp>
      <p:sp>
        <p:nvSpPr>
          <p:cNvPr id="20" name="Row band 3"/>
          <p:cNvSpPr/>
          <p:nvPr/>
        </p:nvSpPr>
        <p:spPr>
          <a:xfrm>
            <a:off x="457200" y="2907792"/>
            <a:ext cx="11274552" cy="457200"/>
          </a:xfrm>
          <a:prstGeom prst="rect">
            <a:avLst/>
          </a:prstGeom>
          <a:solidFill>
            <a:schemeClr val="bg2"/>
          </a:solidFill>
          <a:ln/>
        </p:spPr>
      </p:sp>
      <p:sp>
        <p:nvSpPr>
          <p:cNvPr id="21" name="Period 3"/>
          <p:cNvSpPr txBox="1"/>
          <p:nvPr/>
        </p:nvSpPr>
        <p:spPr>
          <a:xfrm>
            <a:off x="548640" y="2944368"/>
            <a:ext cx="12344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2027 Q1</a:t>
            </a:r>
            <a:endParaRPr lang="en-US" sz="1300" dirty="0"/>
          </a:p>
          <a:p>
            <a:pPr algn="ctr" indent="0" marL="0">
              <a:buNone/>
            </a:pPr>
            <a:r>
              <a:rPr lang="en-US" sz="1000" dirty="0">
                <a:solidFill>
                  <a:schemeClr val="bg1"/>
                </a:solidFill>
              </a:rPr>
              <a:t>Effective 30/01</a:t>
            </a:r>
            <a:endParaRPr lang="en-US" sz="1300" dirty="0"/>
          </a:p>
        </p:txBody>
      </p:sp>
      <p:sp>
        <p:nvSpPr>
          <p:cNvPr id="22" name="Phase 3"/>
          <p:cNvSpPr txBox="1"/>
          <p:nvPr/>
        </p:nvSpPr>
        <p:spPr>
          <a:xfrm>
            <a:off x="1874520" y="2907792"/>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Intragroup</a:t>
            </a:r>
            <a:endParaRPr lang="en-US" sz="1400" dirty="0"/>
          </a:p>
        </p:txBody>
      </p:sp>
      <p:sp>
        <p:nvSpPr>
          <p:cNvPr id="23" name="Activities 3"/>
          <p:cNvSpPr txBox="1"/>
          <p:nvPr/>
        </p:nvSpPr>
        <p:spPr>
          <a:xfrm>
            <a:off x="3520440" y="2907792"/>
            <a:ext cx="5349240" cy="457200"/>
          </a:xfrm>
          <a:prstGeom prst="rect">
            <a:avLst/>
          </a:prstGeom>
          <a:noFill/>
          <a:ln/>
        </p:spPr>
        <p:txBody>
          <a:bodyPr wrap="square" lIns="0" tIns="0" rIns="0" bIns="0" rtlCol="0" anchor="ctr"/>
          <a:lstStyle/>
          <a:p>
            <a:pPr indent="0" marL="0">
              <a:buNone/>
            </a:pPr>
            <a:r>
              <a:rPr lang="en-US" sz="1200" dirty="0">
                <a:solidFill>
                  <a:schemeClr val="tx1"/>
                </a:solidFill>
              </a:rPr>
              <a:t>Intragroup cash flows (incl. internal reinsurance) · Transferability and liquidity support · Solo LRMP requirements for foreign subsidiaries</a:t>
            </a:r>
            <a:endParaRPr lang="en-US" sz="1200" dirty="0"/>
          </a:p>
        </p:txBody>
      </p:sp>
      <p:sp>
        <p:nvSpPr>
          <p:cNvPr id="24" name="Deliverable 3"/>
          <p:cNvSpPr txBox="1"/>
          <p:nvPr/>
        </p:nvSpPr>
        <p:spPr>
          <a:xfrm>
            <a:off x="9006840" y="2907792"/>
            <a:ext cx="2651760" cy="457200"/>
          </a:xfrm>
          <a:prstGeom prst="rect">
            <a:avLst/>
          </a:prstGeom>
          <a:noFill/>
          <a:ln/>
        </p:spPr>
        <p:txBody>
          <a:bodyPr wrap="square" lIns="0" tIns="0" rIns="0" bIns="0" rtlCol="0" anchor="ctr"/>
          <a:lstStyle/>
          <a:p>
            <a:pPr indent="0" marL="0">
              <a:buNone/>
            </a:pPr>
            <a:r>
              <a:rPr lang="en-US" sz="1200" dirty="0">
                <a:solidFill>
                  <a:schemeClr val="tx2"/>
                </a:solidFill>
              </a:rPr>
              <a:t>Intragroup CF modelling; LRMP dry-run package</a:t>
            </a:r>
            <a:endParaRPr lang="en-US" sz="1200" dirty="0"/>
          </a:p>
        </p:txBody>
      </p:sp>
      <p:sp>
        <p:nvSpPr>
          <p:cNvPr id="25" name="Row band 4"/>
          <p:cNvSpPr/>
          <p:nvPr/>
        </p:nvSpPr>
        <p:spPr>
          <a:xfrm>
            <a:off x="457200" y="3401568"/>
            <a:ext cx="11274552" cy="457200"/>
          </a:xfrm>
          <a:prstGeom prst="rect">
            <a:avLst/>
          </a:prstGeom>
          <a:solidFill>
            <a:schemeClr val="bg1"/>
          </a:solidFill>
          <a:ln/>
        </p:spPr>
      </p:sp>
      <p:sp>
        <p:nvSpPr>
          <p:cNvPr id="26" name="Period 4"/>
          <p:cNvSpPr txBox="1"/>
          <p:nvPr/>
        </p:nvSpPr>
        <p:spPr>
          <a:xfrm>
            <a:off x="548640" y="3438144"/>
            <a:ext cx="1234440" cy="384048"/>
          </a:xfrm>
          <a:prstGeom prst="rect">
            <a:avLst/>
          </a:prstGeom>
          <a:solidFill>
            <a:schemeClr val="accent3"/>
          </a:solidFill>
          <a:ln/>
        </p:spPr>
        <p:txBody>
          <a:bodyPr wrap="square" lIns="0" tIns="0" rIns="0" bIns="0" rtlCol="0" anchor="ctr"/>
          <a:lstStyle/>
          <a:p>
            <a:pPr algn="ctr" indent="0" marL="0">
              <a:buNone/>
            </a:pPr>
            <a:r>
              <a:rPr lang="en-US" sz="1300" b="1" dirty="0">
                <a:solidFill>
                  <a:schemeClr val="bg1"/>
                </a:solidFill>
              </a:rPr>
              <a:t>2027 Q2</a:t>
            </a:r>
            <a:endParaRPr lang="en-US" sz="1300" dirty="0"/>
          </a:p>
        </p:txBody>
      </p:sp>
      <p:sp>
        <p:nvSpPr>
          <p:cNvPr id="27" name="Phase 4"/>
          <p:cNvSpPr txBox="1"/>
          <p:nvPr/>
        </p:nvSpPr>
        <p:spPr>
          <a:xfrm>
            <a:off x="1874520" y="3401568"/>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Dry run</a:t>
            </a:r>
            <a:endParaRPr lang="en-US" sz="1400" dirty="0"/>
          </a:p>
        </p:txBody>
      </p:sp>
      <p:sp>
        <p:nvSpPr>
          <p:cNvPr id="28" name="Activities 4"/>
          <p:cNvSpPr txBox="1"/>
          <p:nvPr/>
        </p:nvSpPr>
        <p:spPr>
          <a:xfrm>
            <a:off x="3520440" y="3401568"/>
            <a:ext cx="5349240" cy="457200"/>
          </a:xfrm>
          <a:prstGeom prst="rect">
            <a:avLst/>
          </a:prstGeom>
          <a:noFill/>
          <a:ln/>
        </p:spPr>
        <p:txBody>
          <a:bodyPr wrap="square" lIns="0" tIns="0" rIns="0" bIns="0" rtlCol="0" anchor="ctr"/>
          <a:lstStyle/>
          <a:p>
            <a:pPr indent="0" marL="0">
              <a:buNone/>
            </a:pPr>
            <a:r>
              <a:rPr lang="en-US" sz="1200" dirty="0">
                <a:solidFill>
                  <a:schemeClr val="tx1"/>
                </a:solidFill>
              </a:rPr>
              <a:t>Results consolidated · Group / subsidiary iterations where necessary · Short-term and medium/long-term horizons</a:t>
            </a:r>
            <a:endParaRPr lang="en-US" sz="1200" dirty="0"/>
          </a:p>
        </p:txBody>
      </p:sp>
      <p:sp>
        <p:nvSpPr>
          <p:cNvPr id="29" name="Deliverable 4"/>
          <p:cNvSpPr txBox="1"/>
          <p:nvPr/>
        </p:nvSpPr>
        <p:spPr>
          <a:xfrm>
            <a:off x="9006840" y="3401568"/>
            <a:ext cx="2651760" cy="457200"/>
          </a:xfrm>
          <a:prstGeom prst="rect">
            <a:avLst/>
          </a:prstGeom>
          <a:noFill/>
          <a:ln/>
        </p:spPr>
        <p:txBody>
          <a:bodyPr wrap="square" lIns="0" tIns="0" rIns="0" bIns="0" rtlCol="0" anchor="ctr"/>
          <a:lstStyle/>
          <a:p>
            <a:pPr indent="0" marL="0">
              <a:buNone/>
            </a:pPr>
            <a:r>
              <a:rPr lang="en-US" sz="1200" dirty="0">
                <a:solidFill>
                  <a:schemeClr val="tx2"/>
                </a:solidFill>
              </a:rPr>
              <a:t>Complete LRMP draft for ST + MLT stress</a:t>
            </a:r>
            <a:endParaRPr lang="en-US" sz="1200" dirty="0"/>
          </a:p>
        </p:txBody>
      </p:sp>
      <p:sp>
        <p:nvSpPr>
          <p:cNvPr id="30" name="Row band 5"/>
          <p:cNvSpPr/>
          <p:nvPr/>
        </p:nvSpPr>
        <p:spPr>
          <a:xfrm>
            <a:off x="457200" y="3895344"/>
            <a:ext cx="11274552" cy="457200"/>
          </a:xfrm>
          <a:prstGeom prst="rect">
            <a:avLst/>
          </a:prstGeom>
          <a:solidFill>
            <a:schemeClr val="bg2"/>
          </a:solidFill>
          <a:ln/>
        </p:spPr>
      </p:sp>
      <p:sp>
        <p:nvSpPr>
          <p:cNvPr id="31" name="Period 5"/>
          <p:cNvSpPr txBox="1"/>
          <p:nvPr/>
        </p:nvSpPr>
        <p:spPr>
          <a:xfrm>
            <a:off x="548640" y="3931920"/>
            <a:ext cx="1234440" cy="384048"/>
          </a:xfrm>
          <a:prstGeom prst="rect">
            <a:avLst/>
          </a:prstGeom>
          <a:solidFill>
            <a:schemeClr val="accent3"/>
          </a:solidFill>
          <a:ln/>
        </p:spPr>
        <p:txBody>
          <a:bodyPr wrap="square" lIns="0" tIns="0" rIns="0" bIns="0" rtlCol="0" anchor="ctr"/>
          <a:lstStyle/>
          <a:p>
            <a:pPr algn="ctr" indent="0" marL="0">
              <a:buNone/>
            </a:pPr>
            <a:r>
              <a:rPr lang="en-US" sz="1300" b="1" dirty="0">
                <a:solidFill>
                  <a:schemeClr val="bg1"/>
                </a:solidFill>
              </a:rPr>
              <a:t>2027 Q3</a:t>
            </a:r>
            <a:endParaRPr lang="en-US" sz="1300" dirty="0"/>
          </a:p>
        </p:txBody>
      </p:sp>
      <p:sp>
        <p:nvSpPr>
          <p:cNvPr id="32" name="Phase 5"/>
          <p:cNvSpPr txBox="1"/>
          <p:nvPr/>
        </p:nvSpPr>
        <p:spPr>
          <a:xfrm>
            <a:off x="1874520" y="3895344"/>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Post-mortem</a:t>
            </a:r>
            <a:endParaRPr lang="en-US" sz="1400" dirty="0"/>
          </a:p>
        </p:txBody>
      </p:sp>
      <p:sp>
        <p:nvSpPr>
          <p:cNvPr id="33" name="Activities 5"/>
          <p:cNvSpPr txBox="1"/>
          <p:nvPr/>
        </p:nvSpPr>
        <p:spPr>
          <a:xfrm>
            <a:off x="3520440" y="3895344"/>
            <a:ext cx="5349240" cy="457200"/>
          </a:xfrm>
          <a:prstGeom prst="rect">
            <a:avLst/>
          </a:prstGeom>
          <a:noFill/>
          <a:ln/>
        </p:spPr>
        <p:txBody>
          <a:bodyPr wrap="square" lIns="0" tIns="0" rIns="0" bIns="0" rtlCol="0" anchor="ctr"/>
          <a:lstStyle/>
          <a:p>
            <a:pPr indent="0" marL="0">
              <a:buNone/>
            </a:pPr>
            <a:r>
              <a:rPr lang="en-US" sz="1200" dirty="0">
                <a:solidFill>
                  <a:schemeClr val="tx1"/>
                </a:solidFill>
              </a:rPr>
              <a:t>Results consolidated · Group / subsidiary iterations where necessary · Short-term and medium/long-term horizons</a:t>
            </a:r>
            <a:endParaRPr lang="en-US" sz="1200" dirty="0"/>
          </a:p>
        </p:txBody>
      </p:sp>
      <p:sp>
        <p:nvSpPr>
          <p:cNvPr id="34" name="Deliverable 5"/>
          <p:cNvSpPr txBox="1"/>
          <p:nvPr/>
        </p:nvSpPr>
        <p:spPr>
          <a:xfrm>
            <a:off x="9006840" y="3895344"/>
            <a:ext cx="2651760" cy="457200"/>
          </a:xfrm>
          <a:prstGeom prst="rect">
            <a:avLst/>
          </a:prstGeom>
          <a:noFill/>
          <a:ln/>
        </p:spPr>
        <p:txBody>
          <a:bodyPr wrap="square" lIns="0" tIns="0" rIns="0" bIns="0" rtlCol="0" anchor="ctr"/>
          <a:lstStyle/>
          <a:p>
            <a:pPr indent="0" marL="0">
              <a:buNone/>
            </a:pPr>
            <a:r>
              <a:rPr lang="en-US" sz="1200" dirty="0">
                <a:solidFill>
                  <a:schemeClr val="tx2"/>
                </a:solidFill>
              </a:rPr>
              <a:t>Roadmap for 1st submission; new run calendar</a:t>
            </a:r>
            <a:endParaRPr lang="en-US" sz="1200" dirty="0"/>
          </a:p>
        </p:txBody>
      </p:sp>
      <p:sp>
        <p:nvSpPr>
          <p:cNvPr id="35" name="Row band 6"/>
          <p:cNvSpPr/>
          <p:nvPr/>
        </p:nvSpPr>
        <p:spPr>
          <a:xfrm>
            <a:off x="457200" y="4389120"/>
            <a:ext cx="11274552" cy="457200"/>
          </a:xfrm>
          <a:prstGeom prst="rect">
            <a:avLst/>
          </a:prstGeom>
          <a:solidFill>
            <a:schemeClr val="bg1"/>
          </a:solidFill>
          <a:ln/>
        </p:spPr>
      </p:sp>
      <p:sp>
        <p:nvSpPr>
          <p:cNvPr id="36" name="Period 6"/>
          <p:cNvSpPr txBox="1"/>
          <p:nvPr/>
        </p:nvSpPr>
        <p:spPr>
          <a:xfrm>
            <a:off x="548640" y="4425696"/>
            <a:ext cx="1234440" cy="384048"/>
          </a:xfrm>
          <a:prstGeom prst="rect">
            <a:avLst/>
          </a:prstGeom>
          <a:solidFill>
            <a:schemeClr val="accent4"/>
          </a:solidFill>
          <a:ln/>
        </p:spPr>
        <p:txBody>
          <a:bodyPr wrap="square" lIns="0" tIns="0" rIns="0" bIns="0" rtlCol="0" anchor="ctr"/>
          <a:lstStyle/>
          <a:p>
            <a:pPr algn="ctr" indent="0" marL="0">
              <a:buNone/>
            </a:pPr>
            <a:r>
              <a:rPr lang="en-US" sz="1300" b="1" dirty="0">
                <a:solidFill>
                  <a:schemeClr val="bg1"/>
                </a:solidFill>
              </a:rPr>
              <a:t>2027 Q4</a:t>
            </a:r>
            <a:endParaRPr lang="en-US" sz="1300" dirty="0"/>
          </a:p>
        </p:txBody>
      </p:sp>
      <p:sp>
        <p:nvSpPr>
          <p:cNvPr id="37" name="Phase 6"/>
          <p:cNvSpPr txBox="1"/>
          <p:nvPr/>
        </p:nvSpPr>
        <p:spPr>
          <a:xfrm>
            <a:off x="1874520" y="4389120"/>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Validation and submission</a:t>
            </a:r>
            <a:endParaRPr lang="en-US" sz="1400" dirty="0"/>
          </a:p>
        </p:txBody>
      </p:sp>
      <p:sp>
        <p:nvSpPr>
          <p:cNvPr id="38" name="Activities 6"/>
          <p:cNvSpPr txBox="1"/>
          <p:nvPr/>
        </p:nvSpPr>
        <p:spPr>
          <a:xfrm>
            <a:off x="3520440" y="4389120"/>
            <a:ext cx="5349240" cy="457200"/>
          </a:xfrm>
          <a:prstGeom prst="rect">
            <a:avLst/>
          </a:prstGeom>
          <a:noFill/>
          <a:ln/>
        </p:spPr>
        <p:txBody>
          <a:bodyPr wrap="square" lIns="0" tIns="0" rIns="0" bIns="0" rtlCol="0" anchor="ctr"/>
          <a:lstStyle/>
          <a:p>
            <a:pPr indent="0" marL="0">
              <a:buNone/>
            </a:pPr>
            <a:r>
              <a:rPr lang="en-US" sz="1200" dirty="0">
                <a:solidFill>
                  <a:schemeClr val="tx1"/>
                </a:solidFill>
              </a:rPr>
              <a:t>ROC in December · </a:t>
            </a:r>
            <a:pPr indent="0" marL="0">
              <a:buNone/>
            </a:pPr>
            <a:r>
              <a:rPr lang="en-US" sz="1200" b="1" dirty="0">
                <a:solidFill>
                  <a:schemeClr val="accent3"/>
                </a:solidFill>
              </a:rPr>
              <a:t>Audit and Risk Committee ~5 May · Board ~12 May</a:t>
            </a:r>
            <a:pPr indent="0" marL="0">
              <a:buNone/>
            </a:pPr>
            <a:r>
              <a:rPr lang="en-US" sz="1200" dirty="0">
                <a:solidFill>
                  <a:schemeClr val="tx1"/>
                </a:solidFill>
              </a:rPr>
              <a:t> · Submission within 2 weeks via ONEGATE · Quarterly production</a:t>
            </a:r>
            <a:endParaRPr lang="en-US" sz="1200" dirty="0"/>
          </a:p>
        </p:txBody>
      </p:sp>
      <p:sp>
        <p:nvSpPr>
          <p:cNvPr id="39" name="Deliverable 6"/>
          <p:cNvSpPr txBox="1"/>
          <p:nvPr/>
        </p:nvSpPr>
        <p:spPr>
          <a:xfrm>
            <a:off x="9006840" y="4389120"/>
            <a:ext cx="2651760" cy="457200"/>
          </a:xfrm>
          <a:prstGeom prst="rect">
            <a:avLst/>
          </a:prstGeom>
          <a:noFill/>
          <a:ln/>
        </p:spPr>
        <p:txBody>
          <a:bodyPr wrap="square" lIns="0" tIns="0" rIns="0" bIns="0" rtlCol="0" anchor="ctr"/>
          <a:lstStyle/>
          <a:p>
            <a:pPr indent="0" marL="0">
              <a:buNone/>
            </a:pPr>
            <a:r>
              <a:rPr lang="en-US" sz="1200" dirty="0">
                <a:solidFill>
                  <a:schemeClr val="tx2"/>
                </a:solidFill>
              </a:rPr>
              <a:t>Short-term LRMP submitted to the ACPR</a:t>
            </a:r>
            <a:endParaRPr lang="en-US" sz="1200" dirty="0"/>
          </a:p>
        </p:txBody>
      </p:sp>
      <p:sp>
        <p:nvSpPr>
          <p:cNvPr id="40" name="Row band 7"/>
          <p:cNvSpPr/>
          <p:nvPr/>
        </p:nvSpPr>
        <p:spPr>
          <a:xfrm>
            <a:off x="457200" y="4882896"/>
            <a:ext cx="11274552" cy="457200"/>
          </a:xfrm>
          <a:prstGeom prst="rect">
            <a:avLst/>
          </a:prstGeom>
          <a:solidFill>
            <a:schemeClr val="bg2"/>
          </a:solidFill>
          <a:ln/>
        </p:spPr>
      </p:sp>
      <p:sp>
        <p:nvSpPr>
          <p:cNvPr id="41" name="Period 7"/>
          <p:cNvSpPr txBox="1"/>
          <p:nvPr/>
        </p:nvSpPr>
        <p:spPr>
          <a:xfrm>
            <a:off x="548640" y="4919472"/>
            <a:ext cx="1234440" cy="384048"/>
          </a:xfrm>
          <a:prstGeom prst="rect">
            <a:avLst/>
          </a:prstGeom>
          <a:solidFill>
            <a:schemeClr val="accent2"/>
          </a:solidFill>
          <a:ln/>
        </p:spPr>
        <p:txBody>
          <a:bodyPr wrap="square" lIns="0" tIns="0" rIns="0" bIns="0" rtlCol="0" anchor="ctr"/>
          <a:lstStyle/>
          <a:p>
            <a:pPr algn="ctr" indent="0" marL="0">
              <a:buNone/>
            </a:pPr>
            <a:r>
              <a:rPr lang="en-US" sz="1300" b="1" dirty="0">
                <a:solidFill>
                  <a:schemeClr val="bg1"/>
                </a:solidFill>
              </a:rPr>
              <a:t>2028</a:t>
            </a:r>
            <a:endParaRPr lang="en-US" sz="1300" dirty="0"/>
          </a:p>
        </p:txBody>
      </p:sp>
      <p:sp>
        <p:nvSpPr>
          <p:cNvPr id="42" name="Phase 7"/>
          <p:cNvSpPr txBox="1"/>
          <p:nvPr/>
        </p:nvSpPr>
        <p:spPr>
          <a:xfrm>
            <a:off x="1874520" y="4882896"/>
            <a:ext cx="1554480" cy="45720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Annual rollover</a:t>
            </a:r>
            <a:endParaRPr lang="en-US" sz="1400" dirty="0"/>
          </a:p>
        </p:txBody>
      </p:sp>
      <p:sp>
        <p:nvSpPr>
          <p:cNvPr id="43" name="Activities 7"/>
          <p:cNvSpPr txBox="1"/>
          <p:nvPr/>
        </p:nvSpPr>
        <p:spPr>
          <a:xfrm>
            <a:off x="3520440" y="4882896"/>
            <a:ext cx="5349240" cy="457200"/>
          </a:xfrm>
          <a:prstGeom prst="rect">
            <a:avLst/>
          </a:prstGeom>
          <a:noFill/>
          <a:ln/>
        </p:spPr>
        <p:txBody>
          <a:bodyPr wrap="square" lIns="0" tIns="0" rIns="0" bIns="0" rtlCol="0" anchor="ctr"/>
          <a:lstStyle/>
          <a:p>
            <a:pPr indent="0" marL="0">
              <a:buNone/>
            </a:pPr>
            <a:r>
              <a:rPr lang="en-US" sz="1200" dirty="0">
                <a:solidFill>
                  <a:schemeClr val="tx1"/>
                </a:solidFill>
              </a:rPr>
              <a:t>Preparation and production of the MLT LRMP · Transition to the annual reporting cycle</a:t>
            </a:r>
            <a:endParaRPr lang="en-US" sz="1200" dirty="0"/>
          </a:p>
        </p:txBody>
      </p:sp>
      <p:sp>
        <p:nvSpPr>
          <p:cNvPr id="44" name="Deliverable 7"/>
          <p:cNvSpPr txBox="1"/>
          <p:nvPr/>
        </p:nvSpPr>
        <p:spPr>
          <a:xfrm>
            <a:off x="9006840" y="4882896"/>
            <a:ext cx="2651760" cy="457200"/>
          </a:xfrm>
          <a:prstGeom prst="rect">
            <a:avLst/>
          </a:prstGeom>
          <a:noFill/>
          <a:ln/>
        </p:spPr>
        <p:txBody>
          <a:bodyPr wrap="square" lIns="0" tIns="0" rIns="0" bIns="0" rtlCol="0" anchor="ctr"/>
          <a:lstStyle/>
          <a:p>
            <a:pPr indent="0" marL="0">
              <a:buNone/>
            </a:pPr>
            <a:r>
              <a:rPr lang="en-US" sz="1200" dirty="0">
                <a:solidFill>
                  <a:schemeClr val="tx2"/>
                </a:solidFill>
              </a:rPr>
              <a:t>LRMP ST + MLT</a:t>
            </a:r>
            <a:endParaRPr lang="en-US" sz="1200" dirty="0"/>
          </a:p>
        </p:txBody>
      </p:sp>
      <p:sp>
        <p:nvSpPr>
          <p:cNvPr id="45" name="Key messages strip"/>
          <p:cNvSpPr/>
          <p:nvPr/>
        </p:nvSpPr>
        <p:spPr>
          <a:xfrm>
            <a:off x="457200" y="5468112"/>
            <a:ext cx="11274552" cy="841248"/>
          </a:xfrm>
          <a:prstGeom prst="rect">
            <a:avLst/>
          </a:prstGeom>
          <a:solidFill>
            <a:schemeClr val="bg2"/>
          </a:solidFill>
          <a:ln w="9525">
            <a:solidFill>
              <a:srgbClr val="D5DDE3"/>
            </a:solidFill>
            <a:prstDash val="solid"/>
          </a:ln>
        </p:spPr>
      </p:sp>
      <p:sp>
        <p:nvSpPr>
          <p:cNvPr id="46" name="Key messages label"/>
          <p:cNvSpPr txBox="1"/>
          <p:nvPr/>
        </p:nvSpPr>
        <p:spPr>
          <a:xfrm>
            <a:off x="640080" y="5468112"/>
            <a:ext cx="1280160" cy="841248"/>
          </a:xfrm>
          <a:prstGeom prst="rect">
            <a:avLst/>
          </a:prstGeom>
          <a:noFill/>
          <a:ln/>
        </p:spPr>
        <p:txBody>
          <a:bodyPr wrap="square" lIns="0" tIns="0" rIns="0" bIns="0" rtlCol="0" anchor="ctr"/>
          <a:lstStyle/>
          <a:p>
            <a:pPr indent="0" marL="0">
              <a:buNone/>
            </a:pPr>
            <a:r>
              <a:rPr lang="en-US" sz="1000" b="1" spc="300" kern="0" dirty="0">
                <a:solidFill>
                  <a:schemeClr val="accent4"/>
                </a:solidFill>
              </a:rPr>
              <a:t>KEY MESSAGES</a:t>
            </a:r>
            <a:endParaRPr lang="en-US" sz="1000" dirty="0"/>
          </a:p>
        </p:txBody>
      </p:sp>
      <p:sp>
        <p:nvSpPr>
          <p:cNvPr id="47" name="Key messages list"/>
          <p:cNvSpPr txBox="1"/>
          <p:nvPr/>
        </p:nvSpPr>
        <p:spPr>
          <a:xfrm>
            <a:off x="1965960" y="5468112"/>
            <a:ext cx="9601200" cy="841248"/>
          </a:xfrm>
          <a:prstGeom prst="rect">
            <a:avLst/>
          </a:prstGeom>
          <a:noFill/>
          <a:ln/>
        </p:spPr>
        <p:txBody>
          <a:bodyPr wrap="square" lIns="0" tIns="0" rIns="0" bIns="0" rtlCol="0" anchor="ctr"/>
          <a:lstStyle/>
          <a:p>
            <a:pPr marL="342900" indent="-342900">
              <a:buSzPct val="100000"/>
              <a:buChar char="•"/>
            </a:pPr>
            <a:r>
              <a:rPr lang="en-US" sz="1300" b="1" dirty="0">
                <a:solidFill>
                  <a:schemeClr val="tx1"/>
                </a:solidFill>
              </a:rPr>
              <a:t>1st submission to the ACPR scheduled for December 2027, exceptionally, for the Short-Term LRMP</a:t>
            </a:r>
            <a:endParaRPr lang="en-US" sz="1300" dirty="0"/>
          </a:p>
          <a:p>
            <a:pPr marL="342900" indent="-342900">
              <a:buSzPct val="100000"/>
              <a:buChar char="•"/>
            </a:pPr>
            <a:r>
              <a:rPr lang="en-US" sz="1300" dirty="0">
                <a:solidFill>
                  <a:schemeClr val="tx1"/>
                </a:solidFill>
              </a:rPr>
              <a:t>The quarterly update process of the Short-Term LRMP is expected to generate a material recurring workload</a:t>
            </a:r>
            <a:endParaRPr lang="en-US" sz="1300" dirty="0"/>
          </a:p>
          <a:p>
            <a:pPr marL="342900" indent="-342900">
              <a:buSzPct val="100000"/>
              <a:buChar char="•"/>
            </a:pPr>
            <a:r>
              <a:rPr lang="en-US" sz="1300" dirty="0">
                <a:solidFill>
                  <a:schemeClr val="tx1"/>
                </a:solidFill>
              </a:rPr>
              <a:t>To ensure readiness before the first regulatory submission, the Group plans a dry run exercise at mid-2027</a:t>
            </a:r>
            <a:endParaRPr lang="en-US" sz="13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WHAT WE NEED FROM YOU</a:t>
            </a:r>
            <a:endParaRPr lang="en-US" sz="1100" dirty="0"/>
          </a:p>
        </p:txBody>
      </p:sp>
      <p:sp>
        <p:nvSpPr>
          <p:cNvPr id="3" name="Text 1"/>
          <p:cNvSpPr/>
          <p:nvPr>
            <p:ph idx="102" type="title" hasCustomPrompt="1"/>
          </p:nvPr>
        </p:nvSpPr>
        <p:spPr>
          <a:xfrm>
            <a:off x="457200" y="548640"/>
            <a:ext cx="11274552" cy="640080"/>
          </a:xfrm>
          <a:prstGeom prst="rect">
            <a:avLst/>
          </a:prstGeom>
          <a:noFill/>
          <a:ln/>
        </p:spPr>
        <p:txBody>
          <a:bodyPr wrap="square" lIns="0" tIns="0" rIns="0" bIns="0" rtlCol="0" anchor="ctr"/>
          <a:lstStyle/>
          <a:p>
            <a:pPr algn="l" indent="0" marL="0">
              <a:buNone/>
            </a:pPr>
            <a:r>
              <a:rPr lang="en-US" sz="3000" b="1" dirty="0">
                <a:solidFill>
                  <a:schemeClr val="tx1"/>
                </a:solidFill>
              </a:rPr>
              <a:t>Three inputs, by 1 December 2026</a:t>
            </a:r>
            <a:endParaRPr lang="en-US" sz="3000" dirty="0"/>
          </a:p>
        </p:txBody>
      </p:sp>
      <p:sp>
        <p:nvSpPr>
          <p:cNvPr id="4" name="Text 1"/>
          <p:cNvSpPr/>
          <p:nvPr>
            <p:ph idx="103" type="body" hasCustomPrompt="1"/>
          </p:nvPr>
        </p:nvSpPr>
        <p:spPr>
          <a:xfrm>
            <a:off x="457200" y="1188720"/>
            <a:ext cx="11274552" cy="329184"/>
          </a:xfrm>
          <a:prstGeom prst="rect">
            <a:avLst/>
          </a:prstGeom>
          <a:noFill/>
          <a:ln/>
        </p:spPr>
        <p:txBody>
          <a:bodyPr wrap="square" lIns="0" tIns="0" rIns="0" bIns="0" rtlCol="0" anchor="ctr"/>
          <a:lstStyle/>
          <a:p>
            <a:pPr indent="0" marL="0">
              <a:buNone/>
            </a:pPr>
            <a:r>
              <a:rPr lang="en-US" sz="1500" i="1" dirty="0">
                <a:solidFill>
                  <a:schemeClr val="tx2"/>
                </a:solidFill>
              </a:rPr>
              <a:t>Short notes or tables are enough.</a:t>
            </a:r>
            <a:endParaRPr lang="en-US" sz="1500" dirty="0"/>
          </a:p>
        </p:txBody>
      </p:sp>
      <p:sp>
        <p:nvSpPr>
          <p:cNvPr id="6" name="Ask 1 card"/>
          <p:cNvSpPr/>
          <p:nvPr/>
        </p:nvSpPr>
        <p:spPr>
          <a:xfrm>
            <a:off x="457200" y="1783080"/>
            <a:ext cx="11274552" cy="1234440"/>
          </a:xfrm>
          <a:prstGeom prst="rect">
            <a:avLst/>
          </a:prstGeom>
          <a:solidFill>
            <a:schemeClr val="bg1"/>
          </a:solidFill>
          <a:ln w="9525">
            <a:solidFill>
              <a:srgbClr val="D5DDE3"/>
            </a:solidFill>
            <a:prstDash val="solid"/>
          </a:ln>
        </p:spPr>
      </p:sp>
      <p:sp>
        <p:nvSpPr>
          <p:cNvPr id="7" name="Ask 1 number"/>
          <p:cNvSpPr txBox="1"/>
          <p:nvPr/>
        </p:nvSpPr>
        <p:spPr>
          <a:xfrm>
            <a:off x="685800" y="2148840"/>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Ask 1 title"/>
          <p:cNvSpPr txBox="1"/>
          <p:nvPr/>
        </p:nvSpPr>
        <p:spPr>
          <a:xfrm>
            <a:off x="1463040" y="1947672"/>
            <a:ext cx="804672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Is a solo LRMP required?</a:t>
            </a:r>
            <a:endParaRPr lang="en-US" sz="1900" dirty="0"/>
          </a:p>
        </p:txBody>
      </p:sp>
      <p:sp>
        <p:nvSpPr>
          <p:cNvPr id="9" name="Ask 1 description"/>
          <p:cNvSpPr txBox="1"/>
          <p:nvPr/>
        </p:nvSpPr>
        <p:spPr>
          <a:xfrm>
            <a:off x="1463040" y="2377440"/>
            <a:ext cx="8046720" cy="566928"/>
          </a:xfrm>
          <a:prstGeom prst="rect">
            <a:avLst/>
          </a:prstGeom>
          <a:noFill/>
          <a:ln/>
        </p:spPr>
        <p:txBody>
          <a:bodyPr wrap="square" lIns="0" tIns="0" rIns="0" bIns="0" rtlCol="0" anchor="t"/>
          <a:lstStyle/>
          <a:p>
            <a:pPr indent="0" marL="0">
              <a:buNone/>
            </a:pPr>
            <a:r>
              <a:rPr lang="en-US" sz="1500" dirty="0">
                <a:solidFill>
                  <a:schemeClr val="tx1"/>
                </a:solidFill>
              </a:rPr>
              <a:t>Check with your regulator and tell us the answer, with the reference of the text.</a:t>
            </a:r>
            <a:endParaRPr lang="en-US" sz="1500" dirty="0"/>
          </a:p>
        </p:txBody>
      </p:sp>
      <p:sp>
        <p:nvSpPr>
          <p:cNvPr id="10" name="Ask 1 due date"/>
          <p:cNvSpPr txBox="1"/>
          <p:nvPr/>
        </p:nvSpPr>
        <p:spPr>
          <a:xfrm>
            <a:off x="9829800" y="2167128"/>
            <a:ext cx="1691640" cy="457200"/>
          </a:xfrm>
          <a:prstGeom prst="rect">
            <a:avLst/>
          </a:prstGeom>
          <a:solidFill>
            <a:schemeClr val="bg2"/>
          </a:solidFill>
          <a:ln/>
        </p:spPr>
        <p:txBody>
          <a:bodyPr wrap="square" lIns="0" tIns="0" rIns="0" bIns="0" rtlCol="0" anchor="ctr"/>
          <a:lstStyle/>
          <a:p>
            <a:pPr algn="ctr" indent="0" marL="0">
              <a:buNone/>
            </a:pPr>
            <a:r>
              <a:rPr lang="en-US" sz="1500" b="1" dirty="0">
                <a:solidFill>
                  <a:schemeClr val="accent1"/>
                </a:solidFill>
              </a:rPr>
              <a:t>1 Dec 2026</a:t>
            </a:r>
            <a:endParaRPr lang="en-US" sz="1500" dirty="0"/>
          </a:p>
        </p:txBody>
      </p:sp>
      <p:sp>
        <p:nvSpPr>
          <p:cNvPr id="11" name="Ask 2 card"/>
          <p:cNvSpPr/>
          <p:nvPr/>
        </p:nvSpPr>
        <p:spPr>
          <a:xfrm>
            <a:off x="457200" y="3154680"/>
            <a:ext cx="11274552" cy="1234440"/>
          </a:xfrm>
          <a:prstGeom prst="rect">
            <a:avLst/>
          </a:prstGeom>
          <a:solidFill>
            <a:schemeClr val="bg1"/>
          </a:solidFill>
          <a:ln w="9525">
            <a:solidFill>
              <a:srgbClr val="D5DDE3"/>
            </a:solidFill>
            <a:prstDash val="solid"/>
          </a:ln>
        </p:spPr>
      </p:sp>
      <p:sp>
        <p:nvSpPr>
          <p:cNvPr id="12" name="Ask 2 number"/>
          <p:cNvSpPr txBox="1"/>
          <p:nvPr/>
        </p:nvSpPr>
        <p:spPr>
          <a:xfrm>
            <a:off x="685800" y="3520440"/>
            <a:ext cx="502920" cy="50292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3" name="Ask 2 title"/>
          <p:cNvSpPr txBox="1"/>
          <p:nvPr/>
        </p:nvSpPr>
        <p:spPr>
          <a:xfrm>
            <a:off x="1463040" y="3319272"/>
            <a:ext cx="804672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Transferability and fungibility of own funds</a:t>
            </a:r>
            <a:endParaRPr lang="en-US" sz="1900" dirty="0"/>
          </a:p>
        </p:txBody>
      </p:sp>
      <p:sp>
        <p:nvSpPr>
          <p:cNvPr id="14" name="Ask 2 description"/>
          <p:cNvSpPr txBox="1"/>
          <p:nvPr/>
        </p:nvSpPr>
        <p:spPr>
          <a:xfrm>
            <a:off x="1463040" y="3749040"/>
            <a:ext cx="8046720" cy="566928"/>
          </a:xfrm>
          <a:prstGeom prst="rect">
            <a:avLst/>
          </a:prstGeom>
          <a:noFill/>
          <a:ln/>
        </p:spPr>
        <p:txBody>
          <a:bodyPr wrap="square" lIns="0" tIns="0" rIns="0" bIns="0" rtlCol="0" anchor="t"/>
          <a:lstStyle/>
          <a:p>
            <a:pPr indent="0" marL="0">
              <a:buNone/>
            </a:pPr>
            <a:r>
              <a:rPr lang="en-US" sz="1500" dirty="0">
                <a:solidFill>
                  <a:schemeClr val="tx1"/>
                </a:solidFill>
              </a:rPr>
              <a:t>A short note on legal, regulatory, tax and currency constraints, and on the time needed to transfer.</a:t>
            </a:r>
            <a:endParaRPr lang="en-US" sz="1500" dirty="0"/>
          </a:p>
        </p:txBody>
      </p:sp>
      <p:sp>
        <p:nvSpPr>
          <p:cNvPr id="15" name="Ask 2 due date"/>
          <p:cNvSpPr txBox="1"/>
          <p:nvPr/>
        </p:nvSpPr>
        <p:spPr>
          <a:xfrm>
            <a:off x="9829800" y="3538728"/>
            <a:ext cx="1691640" cy="457200"/>
          </a:xfrm>
          <a:prstGeom prst="rect">
            <a:avLst/>
          </a:prstGeom>
          <a:solidFill>
            <a:schemeClr val="bg2"/>
          </a:solidFill>
          <a:ln/>
        </p:spPr>
        <p:txBody>
          <a:bodyPr wrap="square" lIns="0" tIns="0" rIns="0" bIns="0" rtlCol="0" anchor="ctr"/>
          <a:lstStyle/>
          <a:p>
            <a:pPr algn="ctr" indent="0" marL="0">
              <a:buNone/>
            </a:pPr>
            <a:r>
              <a:rPr lang="en-US" sz="1500" b="1" dirty="0">
                <a:solidFill>
                  <a:schemeClr val="accent2"/>
                </a:solidFill>
              </a:rPr>
              <a:t>1 Dec 2026</a:t>
            </a:r>
            <a:endParaRPr lang="en-US" sz="1500" dirty="0"/>
          </a:p>
        </p:txBody>
      </p:sp>
      <p:sp>
        <p:nvSpPr>
          <p:cNvPr id="16" name="Ask 3 card"/>
          <p:cNvSpPr/>
          <p:nvPr/>
        </p:nvSpPr>
        <p:spPr>
          <a:xfrm>
            <a:off x="457200" y="4526280"/>
            <a:ext cx="11274552" cy="1234440"/>
          </a:xfrm>
          <a:prstGeom prst="rect">
            <a:avLst/>
          </a:prstGeom>
          <a:solidFill>
            <a:schemeClr val="bg1"/>
          </a:solidFill>
          <a:ln w="9525">
            <a:solidFill>
              <a:srgbClr val="D5DDE3"/>
            </a:solidFill>
            <a:prstDash val="solid"/>
          </a:ln>
        </p:spPr>
      </p:sp>
      <p:sp>
        <p:nvSpPr>
          <p:cNvPr id="17" name="Ask 3 number"/>
          <p:cNvSpPr txBox="1"/>
          <p:nvPr/>
        </p:nvSpPr>
        <p:spPr>
          <a:xfrm>
            <a:off x="685800" y="4892040"/>
            <a:ext cx="502920" cy="50292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Ask 3 title"/>
          <p:cNvSpPr txBox="1"/>
          <p:nvPr/>
        </p:nvSpPr>
        <p:spPr>
          <a:xfrm>
            <a:off x="1463040" y="4690872"/>
            <a:ext cx="804672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Liquidity reporting and aligned shocks</a:t>
            </a:r>
            <a:endParaRPr lang="en-US" sz="1900" dirty="0"/>
          </a:p>
        </p:txBody>
      </p:sp>
      <p:sp>
        <p:nvSpPr>
          <p:cNvPr id="19" name="Ask 3 description"/>
          <p:cNvSpPr txBox="1"/>
          <p:nvPr/>
        </p:nvSpPr>
        <p:spPr>
          <a:xfrm>
            <a:off x="1463040" y="5120640"/>
            <a:ext cx="8046720" cy="566928"/>
          </a:xfrm>
          <a:prstGeom prst="rect">
            <a:avLst/>
          </a:prstGeom>
          <a:noFill/>
          <a:ln/>
        </p:spPr>
        <p:txBody>
          <a:bodyPr wrap="square" lIns="0" tIns="0" rIns="0" bIns="0" rtlCol="0" anchor="t"/>
          <a:lstStyle/>
          <a:p>
            <a:pPr indent="0" marL="0">
              <a:buNone/>
            </a:pPr>
            <a:r>
              <a:rPr lang="en-US" sz="1500" dirty="0">
                <a:solidFill>
                  <a:schemeClr val="tx1"/>
                </a:solidFill>
              </a:rPr>
              <a:t>List the liquidity reporting you are subject to, and propose shocks aligned with it, or at least with your ORSA and the Group's PPR scenarios.</a:t>
            </a:r>
            <a:endParaRPr lang="en-US" sz="1500" dirty="0"/>
          </a:p>
        </p:txBody>
      </p:sp>
      <p:sp>
        <p:nvSpPr>
          <p:cNvPr id="20" name="Ask 3 due date"/>
          <p:cNvSpPr txBox="1"/>
          <p:nvPr/>
        </p:nvSpPr>
        <p:spPr>
          <a:xfrm>
            <a:off x="9829800" y="4910328"/>
            <a:ext cx="1691640" cy="457200"/>
          </a:xfrm>
          <a:prstGeom prst="rect">
            <a:avLst/>
          </a:prstGeom>
          <a:solidFill>
            <a:schemeClr val="bg2"/>
          </a:solidFill>
          <a:ln/>
        </p:spPr>
        <p:txBody>
          <a:bodyPr wrap="square" lIns="0" tIns="0" rIns="0" bIns="0" rtlCol="0" anchor="ctr"/>
          <a:lstStyle/>
          <a:p>
            <a:pPr algn="ctr" indent="0" marL="0">
              <a:buNone/>
            </a:pPr>
            <a:r>
              <a:rPr lang="en-US" sz="1500" b="1" dirty="0">
                <a:solidFill>
                  <a:schemeClr val="accent3"/>
                </a:solidFill>
              </a:rPr>
              <a:t>1 Dec 2026</a:t>
            </a:r>
            <a:endParaRPr lang="en-US" sz="1500" dirty="0"/>
          </a:p>
        </p:txBody>
      </p:sp>
      <p:sp>
        <p:nvSpPr>
          <p:cNvPr id="21" name="UK note"/>
          <p:cNvSpPr txBox="1"/>
          <p:nvPr/>
        </p:nvSpPr>
        <p:spPr>
          <a:xfrm>
            <a:off x="457200" y="5943600"/>
            <a:ext cx="11274552" cy="365760"/>
          </a:xfrm>
          <a:prstGeom prst="rect">
            <a:avLst/>
          </a:prstGeom>
          <a:noFill/>
          <a:ln/>
        </p:spPr>
        <p:txBody>
          <a:bodyPr wrap="square" lIns="0" tIns="0" rIns="0" bIns="0" rtlCol="0" anchor="ctr"/>
          <a:lstStyle/>
          <a:p>
            <a:pPr indent="0" marL="0">
              <a:buNone/>
            </a:pPr>
            <a:r>
              <a:rPr lang="en-US" sz="1400" i="1" dirty="0">
                <a:solidFill>
                  <a:schemeClr val="tx2"/>
                </a:solidFill>
              </a:rPr>
              <a:t>Whatever your regulator answers, the Group needs your data for its own plan. We will agree the currency convention (GBP / EUR) together.</a:t>
            </a:r>
            <a:endParaRPr lang="en-US" sz="14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ASSUMPTIONS</a:t>
            </a:r>
            <a:endParaRPr lang="en-US" sz="1100" dirty="0"/>
          </a:p>
        </p:txBody>
      </p:sp>
      <p:sp>
        <p:nvSpPr>
          <p:cNvPr id="3" name="Text 1"/>
          <p:cNvSpPr/>
          <p:nvPr>
            <p:ph idx="102" type="title" hasCustomPrompt="1"/>
          </p:nvPr>
        </p:nvSpPr>
        <p:spPr>
          <a:xfrm>
            <a:off x="457200" y="548640"/>
            <a:ext cx="11274552" cy="640080"/>
          </a:xfrm>
          <a:prstGeom prst="rect">
            <a:avLst/>
          </a:prstGeom>
          <a:noFill/>
          <a:ln/>
        </p:spPr>
        <p:txBody>
          <a:bodyPr wrap="square" lIns="0" tIns="0" rIns="0" bIns="0" rtlCol="0" anchor="ctr"/>
          <a:lstStyle/>
          <a:p>
            <a:pPr algn="l" indent="0" marL="0">
              <a:buNone/>
            </a:pPr>
            <a:r>
              <a:rPr lang="en-US" sz="3000" b="1" dirty="0">
                <a:solidFill>
                  <a:schemeClr val="tx1"/>
                </a:solidFill>
              </a:rPr>
              <a:t>What is already secured</a:t>
            </a:r>
            <a:endParaRPr lang="en-US" sz="3000" dirty="0"/>
          </a:p>
        </p:txBody>
      </p:sp>
      <p:sp>
        <p:nvSpPr>
          <p:cNvPr id="4" name="Text 1"/>
          <p:cNvSpPr/>
          <p:nvPr>
            <p:ph idx="103" type="body" hasCustomPrompt="1"/>
          </p:nvPr>
        </p:nvSpPr>
        <p:spPr>
          <a:xfrm>
            <a:off x="457200" y="1188720"/>
            <a:ext cx="11274552" cy="329184"/>
          </a:xfrm>
          <a:prstGeom prst="rect">
            <a:avLst/>
          </a:prstGeom>
          <a:noFill/>
          <a:ln/>
        </p:spPr>
        <p:txBody>
          <a:bodyPr wrap="square" lIns="0" tIns="0" rIns="0" bIns="0" rtlCol="0" anchor="ctr"/>
          <a:lstStyle/>
          <a:p>
            <a:pPr indent="0" marL="0">
              <a:buNone/>
            </a:pPr>
            <a:r>
              <a:rPr lang="en-US" sz="1500" i="1" dirty="0">
                <a:solidFill>
                  <a:schemeClr val="tx2"/>
                </a:solidFill>
              </a:rPr>
              <a:t>Working assumptions fixed by the Group: you do not need to define them.</a:t>
            </a:r>
            <a:endParaRPr lang="en-US" sz="1500" dirty="0"/>
          </a:p>
        </p:txBody>
      </p:sp>
      <p:sp>
        <p:nvSpPr>
          <p:cNvPr id="6" name="Stat 1 card"/>
          <p:cNvSpPr/>
          <p:nvPr/>
        </p:nvSpPr>
        <p:spPr>
          <a:xfrm>
            <a:off x="457200" y="1783080"/>
            <a:ext cx="3575304" cy="2926080"/>
          </a:xfrm>
          <a:prstGeom prst="rect">
            <a:avLst/>
          </a:prstGeom>
          <a:solidFill>
            <a:schemeClr val="bg1"/>
          </a:solidFill>
          <a:ln w="9525">
            <a:solidFill>
              <a:srgbClr val="D5DDE3"/>
            </a:solidFill>
            <a:prstDash val="solid"/>
          </a:ln>
        </p:spPr>
      </p:sp>
      <p:sp>
        <p:nvSpPr>
          <p:cNvPr id="7" name="Stat 1 label"/>
          <p:cNvSpPr txBox="1"/>
          <p:nvPr/>
        </p:nvSpPr>
        <p:spPr>
          <a:xfrm>
            <a:off x="685800" y="2011680"/>
            <a:ext cx="3118104"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SHORT-TERM HORIZON</a:t>
            </a:r>
            <a:endParaRPr lang="en-US" sz="1100" dirty="0"/>
          </a:p>
        </p:txBody>
      </p:sp>
      <p:sp>
        <p:nvSpPr>
          <p:cNvPr id="8" name="Stat 1 value"/>
          <p:cNvSpPr txBox="1"/>
          <p:nvPr/>
        </p:nvSpPr>
        <p:spPr>
          <a:xfrm>
            <a:off x="685800" y="2423160"/>
            <a:ext cx="3118104" cy="1097280"/>
          </a:xfrm>
          <a:prstGeom prst="rect">
            <a:avLst/>
          </a:prstGeom>
          <a:noFill/>
          <a:ln/>
        </p:spPr>
        <p:txBody>
          <a:bodyPr wrap="square" lIns="0" tIns="0" rIns="0" bIns="0" rtlCol="0" anchor="ctr"/>
          <a:lstStyle/>
          <a:p>
            <a:pPr indent="0" marL="0">
              <a:buNone/>
            </a:pPr>
            <a:r>
              <a:rPr lang="en-US" sz="5000" b="1" dirty="0">
                <a:solidFill>
                  <a:schemeClr val="accent1"/>
                </a:solidFill>
                <a:latin typeface="+mj-lt" pitchFamily="34" charset="0"/>
                <a:ea typeface="+mj-lt" pitchFamily="34" charset="-122"/>
                <a:cs typeface="+mj-lt" pitchFamily="34" charset="-120"/>
              </a:rPr>
              <a:t>3 months</a:t>
            </a:r>
            <a:endParaRPr lang="en-US" sz="5000" dirty="0"/>
          </a:p>
        </p:txBody>
      </p:sp>
      <p:sp>
        <p:nvSpPr>
          <p:cNvPr id="9" name="Stat 1 text"/>
          <p:cNvSpPr txBox="1"/>
          <p:nvPr/>
        </p:nvSpPr>
        <p:spPr>
          <a:xfrm>
            <a:off x="685800" y="3749040"/>
            <a:ext cx="3118104" cy="822960"/>
          </a:xfrm>
          <a:prstGeom prst="rect">
            <a:avLst/>
          </a:prstGeom>
          <a:noFill/>
          <a:ln/>
        </p:spPr>
        <p:txBody>
          <a:bodyPr wrap="square" lIns="0" tIns="0" rIns="0" bIns="0" rtlCol="0" anchor="t"/>
          <a:lstStyle/>
          <a:p>
            <a:pPr indent="0" marL="0">
              <a:buNone/>
            </a:pPr>
            <a:r>
              <a:rPr lang="en-US" sz="1500" dirty="0">
                <a:solidFill>
                  <a:schemeClr val="tx1"/>
                </a:solidFill>
              </a:rPr>
              <a:t>Cash flows projected up to three months ahead.</a:t>
            </a:r>
            <a:endParaRPr lang="en-US" sz="1500" dirty="0"/>
          </a:p>
        </p:txBody>
      </p:sp>
      <p:sp>
        <p:nvSpPr>
          <p:cNvPr id="10" name="Stat 2 card"/>
          <p:cNvSpPr/>
          <p:nvPr/>
        </p:nvSpPr>
        <p:spPr>
          <a:xfrm>
            <a:off x="4306824" y="1783080"/>
            <a:ext cx="3575304" cy="2926080"/>
          </a:xfrm>
          <a:prstGeom prst="rect">
            <a:avLst/>
          </a:prstGeom>
          <a:solidFill>
            <a:schemeClr val="bg1"/>
          </a:solidFill>
          <a:ln w="9525">
            <a:solidFill>
              <a:srgbClr val="D5DDE3"/>
            </a:solidFill>
            <a:prstDash val="solid"/>
          </a:ln>
        </p:spPr>
      </p:sp>
      <p:sp>
        <p:nvSpPr>
          <p:cNvPr id="11" name="Stat 2 label"/>
          <p:cNvSpPr txBox="1"/>
          <p:nvPr/>
        </p:nvSpPr>
        <p:spPr>
          <a:xfrm>
            <a:off x="4535424" y="2011680"/>
            <a:ext cx="3118104" cy="256032"/>
          </a:xfrm>
          <a:prstGeom prst="rect">
            <a:avLst/>
          </a:prstGeom>
          <a:noFill/>
          <a:ln/>
        </p:spPr>
        <p:txBody>
          <a:bodyPr wrap="square" lIns="0" tIns="0" rIns="0" bIns="0" rtlCol="0" anchor="t"/>
          <a:lstStyle/>
          <a:p>
            <a:pPr indent="0" marL="0">
              <a:buNone/>
            </a:pPr>
            <a:r>
              <a:rPr lang="en-US" sz="1100" b="1" spc="300" kern="0" dirty="0">
                <a:solidFill>
                  <a:schemeClr val="accent2"/>
                </a:solidFill>
              </a:rPr>
              <a:t>MEDIUM / LONG-TERM HORIZON</a:t>
            </a:r>
            <a:endParaRPr lang="en-US" sz="1100" dirty="0"/>
          </a:p>
        </p:txBody>
      </p:sp>
      <p:sp>
        <p:nvSpPr>
          <p:cNvPr id="12" name="Stat 2 value"/>
          <p:cNvSpPr txBox="1"/>
          <p:nvPr/>
        </p:nvSpPr>
        <p:spPr>
          <a:xfrm>
            <a:off x="4535424" y="2423160"/>
            <a:ext cx="3118104" cy="1097280"/>
          </a:xfrm>
          <a:prstGeom prst="rect">
            <a:avLst/>
          </a:prstGeom>
          <a:noFill/>
          <a:ln/>
        </p:spPr>
        <p:txBody>
          <a:bodyPr wrap="square" lIns="0" tIns="0" rIns="0" bIns="0" rtlCol="0" anchor="ctr"/>
          <a:lstStyle/>
          <a:p>
            <a:pPr indent="0" marL="0">
              <a:buNone/>
            </a:pPr>
            <a:r>
              <a:rPr lang="en-US" sz="5000" b="1" dirty="0">
                <a:solidFill>
                  <a:schemeClr val="accent2"/>
                </a:solidFill>
                <a:latin typeface="+mj-lt" pitchFamily="34" charset="0"/>
                <a:ea typeface="+mj-lt" pitchFamily="34" charset="-122"/>
                <a:cs typeface="+mj-lt" pitchFamily="34" charset="-120"/>
              </a:rPr>
              <a:t>1 year</a:t>
            </a:r>
            <a:endParaRPr lang="en-US" sz="5000" dirty="0"/>
          </a:p>
        </p:txBody>
      </p:sp>
      <p:sp>
        <p:nvSpPr>
          <p:cNvPr id="13" name="Stat 2 text"/>
          <p:cNvSpPr txBox="1"/>
          <p:nvPr/>
        </p:nvSpPr>
        <p:spPr>
          <a:xfrm>
            <a:off x="4535424" y="3749040"/>
            <a:ext cx="3118104" cy="822960"/>
          </a:xfrm>
          <a:prstGeom prst="rect">
            <a:avLst/>
          </a:prstGeom>
          <a:noFill/>
          <a:ln/>
        </p:spPr>
        <p:txBody>
          <a:bodyPr wrap="square" lIns="0" tIns="0" rIns="0" bIns="0" rtlCol="0" anchor="t"/>
          <a:lstStyle/>
          <a:p>
            <a:pPr indent="0" marL="0">
              <a:buNone/>
            </a:pPr>
            <a:r>
              <a:rPr lang="en-US" sz="1500" dirty="0">
                <a:solidFill>
                  <a:schemeClr val="tx1"/>
                </a:solidFill>
              </a:rPr>
              <a:t>Cash flows projected up to one year ahead.</a:t>
            </a:r>
            <a:endParaRPr lang="en-US" sz="1500" dirty="0"/>
          </a:p>
        </p:txBody>
      </p:sp>
      <p:sp>
        <p:nvSpPr>
          <p:cNvPr id="14" name="Stat 3 card"/>
          <p:cNvSpPr/>
          <p:nvPr/>
        </p:nvSpPr>
        <p:spPr>
          <a:xfrm>
            <a:off x="8156448" y="1783080"/>
            <a:ext cx="3575304" cy="2926080"/>
          </a:xfrm>
          <a:prstGeom prst="rect">
            <a:avLst/>
          </a:prstGeom>
          <a:solidFill>
            <a:schemeClr val="bg1"/>
          </a:solidFill>
          <a:ln w="9525">
            <a:solidFill>
              <a:srgbClr val="D5DDE3"/>
            </a:solidFill>
            <a:prstDash val="solid"/>
          </a:ln>
        </p:spPr>
      </p:sp>
      <p:sp>
        <p:nvSpPr>
          <p:cNvPr id="15" name="Stat 3 label"/>
          <p:cNvSpPr txBox="1"/>
          <p:nvPr/>
        </p:nvSpPr>
        <p:spPr>
          <a:xfrm>
            <a:off x="8385048" y="2011680"/>
            <a:ext cx="3118104" cy="256032"/>
          </a:xfrm>
          <a:prstGeom prst="rect">
            <a:avLst/>
          </a:prstGeom>
          <a:noFill/>
          <a:ln/>
        </p:spPr>
        <p:txBody>
          <a:bodyPr wrap="square" lIns="0" tIns="0" rIns="0" bIns="0" rtlCol="0" anchor="t"/>
          <a:lstStyle/>
          <a:p>
            <a:pPr indent="0" marL="0">
              <a:buNone/>
            </a:pPr>
            <a:r>
              <a:rPr lang="en-US" sz="1100" b="1" spc="300" kern="0" dirty="0">
                <a:solidFill>
                  <a:schemeClr val="accent3"/>
                </a:solidFill>
              </a:rPr>
              <a:t>LIQUIDITY INDICATOR</a:t>
            </a:r>
            <a:endParaRPr lang="en-US" sz="1100" dirty="0"/>
          </a:p>
        </p:txBody>
      </p:sp>
      <p:sp>
        <p:nvSpPr>
          <p:cNvPr id="16" name="Stat 3 value"/>
          <p:cNvSpPr txBox="1"/>
          <p:nvPr/>
        </p:nvSpPr>
        <p:spPr>
          <a:xfrm>
            <a:off x="8385048" y="2423160"/>
            <a:ext cx="3118104" cy="109728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(Inflows + Buffer) / Outflows</a:t>
            </a:r>
            <a:endParaRPr lang="en-US" sz="2400" dirty="0"/>
          </a:p>
        </p:txBody>
      </p:sp>
      <p:sp>
        <p:nvSpPr>
          <p:cNvPr id="17" name="Stat 3 text"/>
          <p:cNvSpPr txBox="1"/>
          <p:nvPr/>
        </p:nvSpPr>
        <p:spPr>
          <a:xfrm>
            <a:off x="8385048" y="3749040"/>
            <a:ext cx="3118104" cy="822960"/>
          </a:xfrm>
          <a:prstGeom prst="rect">
            <a:avLst/>
          </a:prstGeom>
          <a:noFill/>
          <a:ln/>
        </p:spPr>
        <p:txBody>
          <a:bodyPr wrap="square" lIns="0" tIns="0" rIns="0" bIns="0" rtlCol="0" anchor="t"/>
          <a:lstStyle/>
          <a:p>
            <a:pPr indent="0" marL="0">
              <a:buNone/>
            </a:pPr>
            <a:r>
              <a:rPr lang="en-US" sz="1500" dirty="0">
                <a:solidFill>
                  <a:schemeClr val="tx1"/>
                </a:solidFill>
              </a:rPr>
              <a:t>Already calculated by the Group.</a:t>
            </a:r>
            <a:endParaRPr lang="en-US" sz="1500" dirty="0"/>
          </a:p>
        </p:txBody>
      </p:sp>
      <p:sp>
        <p:nvSpPr>
          <p:cNvPr id="18" name="Rules strip"/>
          <p:cNvSpPr/>
          <p:nvPr/>
        </p:nvSpPr>
        <p:spPr>
          <a:xfrm>
            <a:off x="457200" y="4983480"/>
            <a:ext cx="11274552" cy="1188720"/>
          </a:xfrm>
          <a:prstGeom prst="rect">
            <a:avLst/>
          </a:prstGeom>
          <a:solidFill>
            <a:schemeClr val="bg2"/>
          </a:solidFill>
          <a:ln w="9525">
            <a:solidFill>
              <a:srgbClr val="D5DDE3"/>
            </a:solidFill>
            <a:prstDash val="solid"/>
          </a:ln>
        </p:spPr>
      </p:sp>
      <p:sp>
        <p:nvSpPr>
          <p:cNvPr id="19" name="Rules text"/>
          <p:cNvSpPr txBox="1"/>
          <p:nvPr/>
        </p:nvSpPr>
        <p:spPr>
          <a:xfrm>
            <a:off x="731520" y="4983480"/>
            <a:ext cx="10789920" cy="1188720"/>
          </a:xfrm>
          <a:prstGeom prst="rect">
            <a:avLst/>
          </a:prstGeom>
          <a:noFill/>
          <a:ln/>
        </p:spPr>
        <p:txBody>
          <a:bodyPr wrap="square" lIns="0" tIns="0" rIns="0" bIns="0" rtlCol="0" anchor="ctr"/>
          <a:lstStyle/>
          <a:p>
            <a:pPr indent="0" marL="0">
              <a:spcAft>
                <a:spcPts val="600"/>
              </a:spcAft>
              <a:buNone/>
            </a:pPr>
            <a:r>
              <a:rPr lang="en-US" sz="1700" b="1" dirty="0">
                <a:solidFill>
                  <a:schemeClr val="accent4"/>
                </a:solidFill>
              </a:rPr>
              <a:t>Scenarios  </a:t>
            </a:r>
            <a:pPr indent="0" marL="0">
              <a:spcAft>
                <a:spcPts val="600"/>
              </a:spcAft>
              <a:buNone/>
            </a:pPr>
            <a:r>
              <a:rPr lang="en-US" sz="1700" dirty="0">
                <a:solidFill>
                  <a:schemeClr val="tx1"/>
                </a:solidFill>
              </a:rPr>
              <a:t>start from the Group's PPR scenarios.</a:t>
            </a:r>
            <a:endParaRPr lang="en-US" sz="1700" dirty="0"/>
          </a:p>
          <a:p>
            <a:pPr indent="0" marL="0">
              <a:spcAft>
                <a:spcPts val="600"/>
              </a:spcAft>
              <a:buNone/>
            </a:pPr>
            <a:r>
              <a:rPr lang="en-US" sz="1700" b="1" dirty="0">
                <a:solidFill>
                  <a:schemeClr val="accent6"/>
                </a:solidFill>
              </a:rPr>
              <a:t>Updates  </a:t>
            </a:r>
            <a:pPr indent="0" marL="0">
              <a:spcAft>
                <a:spcPts val="600"/>
              </a:spcAft>
              <a:buNone/>
            </a:pPr>
            <a:r>
              <a:rPr lang="en-US" sz="1700" dirty="0">
                <a:solidFill>
                  <a:schemeClr val="tx1"/>
                </a:solidFill>
              </a:rPr>
              <a:t>short-term plan quarterly, medium/long-term plan annually.</a:t>
            </a:r>
            <a:endParaRPr lang="en-US" sz="17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REPORTING TEMPLATE</a:t>
            </a:r>
            <a:endParaRPr lang="en-US" sz="1100" dirty="0"/>
          </a:p>
        </p:txBody>
      </p:sp>
      <p:sp>
        <p:nvSpPr>
          <p:cNvPr id="3" name="Text 1"/>
          <p:cNvSpPr/>
          <p:nvPr>
            <p:ph idx="102" type="title" hasCustomPrompt="1"/>
          </p:nvPr>
        </p:nvSpPr>
        <p:spPr>
          <a:xfrm>
            <a:off x="457200" y="548640"/>
            <a:ext cx="11274552" cy="640080"/>
          </a:xfrm>
          <a:prstGeom prst="rect">
            <a:avLst/>
          </a:prstGeom>
          <a:noFill/>
          <a:ln/>
        </p:spPr>
        <p:txBody>
          <a:bodyPr wrap="square" lIns="0" tIns="0" rIns="0" bIns="0" rtlCol="0" anchor="ctr"/>
          <a:lstStyle/>
          <a:p>
            <a:pPr algn="l" indent="0" marL="0">
              <a:buNone/>
            </a:pPr>
            <a:r>
              <a:rPr lang="en-US" sz="3000" b="1" dirty="0">
                <a:solidFill>
                  <a:schemeClr val="tx1"/>
                </a:solidFill>
              </a:rPr>
              <a:t>Reporting template</a:t>
            </a:r>
            <a:endParaRPr lang="en-US" sz="3000" dirty="0"/>
          </a:p>
        </p:txBody>
      </p:sp>
      <p:sp>
        <p:nvSpPr>
          <p:cNvPr id="4" name="Text 1"/>
          <p:cNvSpPr/>
          <p:nvPr>
            <p:ph idx="103" type="body" hasCustomPrompt="1"/>
          </p:nvPr>
        </p:nvSpPr>
        <p:spPr>
          <a:xfrm>
            <a:off x="457200" y="1188720"/>
            <a:ext cx="11274552" cy="329184"/>
          </a:xfrm>
          <a:prstGeom prst="rect">
            <a:avLst/>
          </a:prstGeom>
          <a:noFill/>
          <a:ln/>
        </p:spPr>
        <p:txBody>
          <a:bodyPr wrap="square" lIns="0" tIns="0" rIns="0" bIns="0" rtlCol="0" anchor="ctr"/>
          <a:lstStyle/>
          <a:p>
            <a:pPr indent="0" marL="0">
              <a:buNone/>
            </a:pPr>
            <a:r>
              <a:rPr lang="en-US" sz="1500" i="1" dirty="0">
                <a:solidFill>
                  <a:schemeClr val="tx2"/>
                </a:solidFill>
              </a:rPr>
              <a:t>One reporting framework, less duplication.</a:t>
            </a:r>
            <a:endParaRPr lang="en-US" sz="1500" dirty="0"/>
          </a:p>
        </p:txBody>
      </p:sp>
      <p:sp>
        <p:nvSpPr>
          <p:cNvPr id="6" name="Validation box"/>
          <p:cNvSpPr/>
          <p:nvPr/>
        </p:nvSpPr>
        <p:spPr>
          <a:xfrm>
            <a:off x="8732520" y="274320"/>
            <a:ext cx="2999232" cy="1371600"/>
          </a:xfrm>
          <a:prstGeom prst="rect">
            <a:avLst/>
          </a:prstGeom>
          <a:solidFill>
            <a:schemeClr val="bg2"/>
          </a:solidFill>
          <a:ln w="9525">
            <a:solidFill>
              <a:srgbClr val="D5DDE3"/>
            </a:solidFill>
            <a:prstDash val="solid"/>
          </a:ln>
        </p:spPr>
      </p:sp>
      <p:sp>
        <p:nvSpPr>
          <p:cNvPr id="7" name="Validation text"/>
          <p:cNvSpPr txBox="1"/>
          <p:nvPr/>
        </p:nvSpPr>
        <p:spPr>
          <a:xfrm>
            <a:off x="8915400" y="274320"/>
            <a:ext cx="2697480" cy="1371600"/>
          </a:xfrm>
          <a:prstGeom prst="rect">
            <a:avLst/>
          </a:prstGeom>
          <a:noFill/>
          <a:ln/>
        </p:spPr>
        <p:txBody>
          <a:bodyPr wrap="square" lIns="0" tIns="0" rIns="0" bIns="0" rtlCol="0" anchor="ctr"/>
          <a:lstStyle/>
          <a:p>
            <a:pPr indent="0" marL="0">
              <a:buNone/>
            </a:pPr>
            <a:r>
              <a:rPr lang="en-US" sz="1000" b="1" spc="300" kern="0" dirty="0">
                <a:solidFill>
                  <a:schemeClr val="accent3"/>
                </a:solidFill>
              </a:rPr>
              <a:t>FOR VALIDATION</a:t>
            </a:r>
            <a:endParaRPr lang="en-US" sz="1000" dirty="0"/>
          </a:p>
          <a:p>
            <a:pPr indent="0" marL="0">
              <a:spcAft>
                <a:spcPts val="600"/>
              </a:spcAft>
              <a:buNone/>
            </a:pPr>
            <a:r>
              <a:rPr lang="en-US" sz="1300" dirty="0">
                <a:solidFill>
                  <a:schemeClr val="tx1"/>
                </a:solidFill>
              </a:rPr>
              <a:t>1. Template</a:t>
            </a:r>
            <a:endParaRPr lang="en-US" sz="1000" dirty="0"/>
          </a:p>
          <a:p>
            <a:pPr indent="0" marL="0">
              <a:buNone/>
            </a:pPr>
            <a:r>
              <a:rPr lang="en-US" sz="1000" b="1" spc="300" kern="0" dirty="0">
                <a:solidFill>
                  <a:schemeClr val="accent3"/>
                </a:solidFill>
              </a:rPr>
              <a:t>TO IDENTIFY</a:t>
            </a:r>
            <a:endParaRPr lang="en-US" sz="1000" dirty="0"/>
          </a:p>
          <a:p>
            <a:pPr indent="0" marL="0">
              <a:buNone/>
            </a:pPr>
            <a:r>
              <a:rPr lang="en-US" sz="1300" dirty="0">
                <a:solidFill>
                  <a:schemeClr val="tx1"/>
                </a:solidFill>
              </a:rPr>
              <a:t>1. Methodology gaps</a:t>
            </a:r>
            <a:endParaRPr lang="en-US" sz="1000" dirty="0"/>
          </a:p>
          <a:p>
            <a:pPr indent="0" marL="0">
              <a:buNone/>
            </a:pPr>
            <a:r>
              <a:rPr lang="en-US" sz="1300" dirty="0">
                <a:solidFill>
                  <a:schemeClr val="tx1"/>
                </a:solidFill>
              </a:rPr>
              <a:t>2. Anticipated challenges</a:t>
            </a:r>
            <a:endParaRPr lang="en-US" sz="1000" dirty="0"/>
          </a:p>
        </p:txBody>
      </p:sp>
      <p:sp>
        <p:nvSpPr>
          <p:cNvPr id="8" name="Methodology body"/>
          <p:cNvSpPr/>
          <p:nvPr/>
        </p:nvSpPr>
        <p:spPr>
          <a:xfrm>
            <a:off x="457200" y="1783080"/>
            <a:ext cx="5532120" cy="2286000"/>
          </a:xfrm>
          <a:prstGeom prst="rect">
            <a:avLst/>
          </a:prstGeom>
          <a:solidFill>
            <a:schemeClr val="bg1"/>
          </a:solidFill>
          <a:ln w="9525">
            <a:solidFill>
              <a:srgbClr val="D5DDE3"/>
            </a:solidFill>
            <a:prstDash val="solid"/>
          </a:ln>
        </p:spPr>
      </p:sp>
      <p:sp>
        <p:nvSpPr>
          <p:cNvPr id="9" name="Methodology header"/>
          <p:cNvSpPr txBox="1"/>
          <p:nvPr/>
        </p:nvSpPr>
        <p:spPr>
          <a:xfrm>
            <a:off x="457200" y="1783080"/>
            <a:ext cx="5532120" cy="530352"/>
          </a:xfrm>
          <a:prstGeom prst="rect">
            <a:avLst/>
          </a:prstGeom>
          <a:solidFill>
            <a:schemeClr val="tx1"/>
          </a:solidFill>
          <a:ln/>
        </p:spPr>
        <p:txBody>
          <a:bodyPr wrap="square" lIns="177800" tIns="0" rIns="177800" bIns="0" rtlCol="0" anchor="ctr"/>
          <a:lstStyle/>
          <a:p>
            <a:pPr indent="0" marL="0">
              <a:buNone/>
            </a:pPr>
            <a:r>
              <a:rPr lang="en-US" sz="1500" b="1" dirty="0">
                <a:solidFill>
                  <a:schemeClr val="bg1"/>
                </a:solidFill>
                <a:latin typeface="+mj-lt" pitchFamily="34" charset="0"/>
                <a:ea typeface="+mj-lt" pitchFamily="34" charset="-122"/>
                <a:cs typeface="+mj-lt" pitchFamily="34" charset="-120"/>
              </a:rPr>
              <a:t>Methodology &amp; User Guide</a:t>
            </a:r>
            <a:endParaRPr lang="en-US" sz="1500" dirty="0"/>
          </a:p>
          <a:p>
            <a:pPr indent="0" marL="0">
              <a:buNone/>
            </a:pPr>
            <a:r>
              <a:rPr lang="en-US" sz="1100" i="1" dirty="0">
                <a:solidFill>
                  <a:srgbClr val="C9D3DC"/>
                </a:solidFill>
              </a:rPr>
              <a:t>Sheets « ReadMe » &amp; « Assumptions »</a:t>
            </a:r>
            <a:endParaRPr lang="en-US" sz="1500" dirty="0"/>
          </a:p>
        </p:txBody>
      </p:sp>
      <p:sp>
        <p:nvSpPr>
          <p:cNvPr id="10" name="Methodology list"/>
          <p:cNvSpPr txBox="1"/>
          <p:nvPr/>
        </p:nvSpPr>
        <p:spPr>
          <a:xfrm>
            <a:off x="640080" y="2423160"/>
            <a:ext cx="5166360" cy="157276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Practical translation of the EIOPA RTS requirements</a:t>
            </a:r>
            <a:endParaRPr lang="en-US" sz="1200" dirty="0"/>
          </a:p>
          <a:p>
            <a:pPr marL="342900" indent="-342900">
              <a:spcAft>
                <a:spcPts val="400"/>
              </a:spcAft>
              <a:buSzPct val="100000"/>
              <a:buChar char="•"/>
            </a:pPr>
            <a:r>
              <a:rPr lang="en-US" sz="1200" dirty="0">
                <a:solidFill>
                  <a:schemeClr val="tx1"/>
                </a:solidFill>
              </a:rPr>
              <a:t>Full traceability to the regulatory provisions</a:t>
            </a:r>
            <a:endParaRPr lang="en-US" sz="1200" dirty="0"/>
          </a:p>
          <a:p>
            <a:pPr marL="342900" indent="-342900">
              <a:spcAft>
                <a:spcPts val="400"/>
              </a:spcAft>
              <a:buSzPct val="100000"/>
              <a:buChar char="•"/>
            </a:pPr>
            <a:r>
              <a:rPr lang="en-US" sz="1200" dirty="0">
                <a:solidFill>
                  <a:schemeClr val="tx1"/>
                </a:solidFill>
              </a:rPr>
              <a:t>Reporting guidance for contributors</a:t>
            </a:r>
            <a:endParaRPr lang="en-US" sz="1200" dirty="0"/>
          </a:p>
          <a:p>
            <a:pPr marL="342900" indent="-342900">
              <a:spcAft>
                <a:spcPts val="400"/>
              </a:spcAft>
              <a:buSzPct val="100000"/>
              <a:buChar char="•"/>
            </a:pPr>
            <a:r>
              <a:rPr lang="en-US" sz="1200" dirty="0">
                <a:solidFill>
                  <a:schemeClr val="tx1"/>
                </a:solidFill>
              </a:rPr>
              <a:t>Targeted simplifications where appropriate</a:t>
            </a:r>
            <a:endParaRPr lang="en-US" sz="1200" dirty="0"/>
          </a:p>
          <a:p>
            <a:pPr marL="342900" indent="-342900">
              <a:spcAft>
                <a:spcPts val="400"/>
              </a:spcAft>
              <a:buSzPct val="100000"/>
              <a:buChar char="•"/>
            </a:pPr>
            <a:r>
              <a:rPr lang="en-US" sz="1200" dirty="0">
                <a:solidFill>
                  <a:schemeClr val="tx1"/>
                </a:solidFill>
              </a:rPr>
              <a:t>Built-in consistency checks to identify reporting gaps</a:t>
            </a:r>
            <a:endParaRPr lang="en-US" sz="1200" dirty="0"/>
          </a:p>
          <a:p>
            <a:pPr marL="342900" indent="-342900">
              <a:spcAft>
                <a:spcPts val="400"/>
              </a:spcAft>
              <a:buSzPct val="100000"/>
              <a:buChar char="•"/>
            </a:pPr>
            <a:r>
              <a:rPr lang="en-US" sz="1200" dirty="0">
                <a:solidFill>
                  <a:schemeClr val="tx1"/>
                </a:solidFill>
              </a:rPr>
              <a:t>Glossary for a common understanding across entities</a:t>
            </a:r>
            <a:endParaRPr lang="en-US" sz="1200" dirty="0"/>
          </a:p>
        </p:txBody>
      </p:sp>
      <p:sp>
        <p:nvSpPr>
          <p:cNvPr id="11" name="Projections body"/>
          <p:cNvSpPr/>
          <p:nvPr/>
        </p:nvSpPr>
        <p:spPr>
          <a:xfrm>
            <a:off x="6199632" y="1783080"/>
            <a:ext cx="5532120" cy="2286000"/>
          </a:xfrm>
          <a:prstGeom prst="rect">
            <a:avLst/>
          </a:prstGeom>
          <a:solidFill>
            <a:schemeClr val="bg1"/>
          </a:solidFill>
          <a:ln w="9525">
            <a:solidFill>
              <a:srgbClr val="D5DDE3"/>
            </a:solidFill>
            <a:prstDash val="solid"/>
          </a:ln>
        </p:spPr>
      </p:sp>
      <p:sp>
        <p:nvSpPr>
          <p:cNvPr id="12" name="Projections header"/>
          <p:cNvSpPr txBox="1"/>
          <p:nvPr/>
        </p:nvSpPr>
        <p:spPr>
          <a:xfrm>
            <a:off x="6199632" y="1783080"/>
            <a:ext cx="5532120" cy="530352"/>
          </a:xfrm>
          <a:prstGeom prst="rect">
            <a:avLst/>
          </a:prstGeom>
          <a:solidFill>
            <a:schemeClr val="tx1"/>
          </a:solidFill>
          <a:ln/>
        </p:spPr>
        <p:txBody>
          <a:bodyPr wrap="square" lIns="177800" tIns="0" rIns="177800" bIns="0" rtlCol="0" anchor="ctr"/>
          <a:lstStyle/>
          <a:p>
            <a:pPr indent="0" marL="0">
              <a:buNone/>
            </a:pPr>
            <a:r>
              <a:rPr lang="en-US" sz="1500" b="1" dirty="0">
                <a:solidFill>
                  <a:schemeClr val="bg1"/>
                </a:solidFill>
                <a:latin typeface="+mj-lt" pitchFamily="34" charset="0"/>
                <a:ea typeface="+mj-lt" pitchFamily="34" charset="-122"/>
                <a:cs typeface="+mj-lt" pitchFamily="34" charset="-120"/>
              </a:rPr>
              <a:t>Projections &amp; Liquidity Buffer</a:t>
            </a:r>
            <a:endParaRPr lang="en-US" sz="1500" dirty="0"/>
          </a:p>
          <a:p>
            <a:pPr indent="0" marL="0">
              <a:buNone/>
            </a:pPr>
            <a:r>
              <a:rPr lang="en-US" sz="1100" i="1" dirty="0">
                <a:solidFill>
                  <a:srgbClr val="C9D3DC"/>
                </a:solidFill>
              </a:rPr>
              <a:t>Sheets « Cashflows_ST_* », « Buffer_ST » and « LRIs »</a:t>
            </a:r>
            <a:endParaRPr lang="en-US" sz="1500" dirty="0"/>
          </a:p>
        </p:txBody>
      </p:sp>
      <p:sp>
        <p:nvSpPr>
          <p:cNvPr id="13" name="Projections list"/>
          <p:cNvSpPr txBox="1"/>
          <p:nvPr/>
        </p:nvSpPr>
        <p:spPr>
          <a:xfrm>
            <a:off x="6382512" y="2423160"/>
            <a:ext cx="5166360" cy="157276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Cash flow projections under baseline and stressed scenarios</a:t>
            </a:r>
            <a:endParaRPr lang="en-US" sz="1200" dirty="0"/>
          </a:p>
          <a:p>
            <a:pPr marL="342900" indent="-342900">
              <a:spcAft>
                <a:spcPts val="400"/>
              </a:spcAft>
              <a:buSzPct val="100000"/>
              <a:buChar char="•"/>
            </a:pPr>
            <a:r>
              <a:rPr lang="en-US" sz="1200" dirty="0">
                <a:solidFill>
                  <a:schemeClr val="tx1"/>
                </a:solidFill>
              </a:rPr>
              <a:t>Regulatory projection horizon and reporting granularity</a:t>
            </a:r>
            <a:endParaRPr lang="en-US" sz="1200" dirty="0"/>
          </a:p>
          <a:p>
            <a:pPr marL="342900" indent="-342900">
              <a:spcAft>
                <a:spcPts val="400"/>
              </a:spcAft>
              <a:buSzPct val="100000"/>
              <a:buChar char="•"/>
            </a:pPr>
            <a:r>
              <a:rPr lang="en-US" sz="1200" dirty="0">
                <a:solidFill>
                  <a:schemeClr val="tx1"/>
                </a:solidFill>
              </a:rPr>
              <a:t>Documented assumptions and stress calibrations</a:t>
            </a:r>
            <a:endParaRPr lang="en-US" sz="1200" dirty="0"/>
          </a:p>
          <a:p>
            <a:pPr marL="342900" indent="-342900">
              <a:spcAft>
                <a:spcPts val="400"/>
              </a:spcAft>
              <a:buSzPct val="100000"/>
              <a:buChar char="•"/>
            </a:pPr>
            <a:r>
              <a:rPr lang="en-US" sz="1200" dirty="0">
                <a:solidFill>
                  <a:schemeClr val="tx1"/>
                </a:solidFill>
              </a:rPr>
              <a:t>Harmonized classification framework for liquid assets</a:t>
            </a:r>
            <a:endParaRPr lang="en-US" sz="1200" dirty="0"/>
          </a:p>
          <a:p>
            <a:pPr marL="342900" indent="-342900">
              <a:spcAft>
                <a:spcPts val="400"/>
              </a:spcAft>
              <a:buSzPct val="100000"/>
              <a:buChar char="•"/>
            </a:pPr>
            <a:r>
              <a:rPr lang="en-US" sz="1200" dirty="0">
                <a:solidFill>
                  <a:schemeClr val="tx1"/>
                </a:solidFill>
              </a:rPr>
              <a:t>Methodology frozen for the Dry Run; enhancements possible after entity feedback</a:t>
            </a:r>
            <a:endParaRPr lang="en-US" sz="1200" dirty="0"/>
          </a:p>
          <a:p>
            <a:pPr marL="342900" indent="-342900">
              <a:spcAft>
                <a:spcPts val="400"/>
              </a:spcAft>
              <a:buSzPct val="100000"/>
              <a:buChar char="•"/>
            </a:pPr>
            <a:r>
              <a:rPr lang="en-US" sz="1200" dirty="0">
                <a:solidFill>
                  <a:schemeClr val="tx1"/>
                </a:solidFill>
              </a:rPr>
              <a:t>Automated Short-Term Liquidity Indicators (when stabilized)</a:t>
            </a:r>
            <a:endParaRPr lang="en-US" sz="1200" dirty="0"/>
          </a:p>
        </p:txBody>
      </p:sp>
      <p:sp>
        <p:nvSpPr>
          <p:cNvPr id="14" name="Qualitative body"/>
          <p:cNvSpPr/>
          <p:nvPr/>
        </p:nvSpPr>
        <p:spPr>
          <a:xfrm>
            <a:off x="457200" y="4206240"/>
            <a:ext cx="5532120" cy="1371600"/>
          </a:xfrm>
          <a:prstGeom prst="rect">
            <a:avLst/>
          </a:prstGeom>
          <a:solidFill>
            <a:schemeClr val="bg1"/>
          </a:solidFill>
          <a:ln w="9525">
            <a:solidFill>
              <a:srgbClr val="D5DDE3"/>
            </a:solidFill>
            <a:prstDash val="solid"/>
          </a:ln>
        </p:spPr>
      </p:sp>
      <p:sp>
        <p:nvSpPr>
          <p:cNvPr id="15" name="Qualitative header"/>
          <p:cNvSpPr txBox="1"/>
          <p:nvPr/>
        </p:nvSpPr>
        <p:spPr>
          <a:xfrm>
            <a:off x="457200" y="4206240"/>
            <a:ext cx="5532120" cy="530352"/>
          </a:xfrm>
          <a:prstGeom prst="rect">
            <a:avLst/>
          </a:prstGeom>
          <a:solidFill>
            <a:schemeClr val="tx1"/>
          </a:solidFill>
          <a:ln/>
        </p:spPr>
        <p:txBody>
          <a:bodyPr wrap="square" lIns="177800" tIns="0" rIns="177800" bIns="0" rtlCol="0" anchor="ctr"/>
          <a:lstStyle/>
          <a:p>
            <a:pPr indent="0" marL="0">
              <a:buNone/>
            </a:pPr>
            <a:r>
              <a:rPr lang="en-US" sz="1500" b="1" dirty="0">
                <a:solidFill>
                  <a:schemeClr val="bg1"/>
                </a:solidFill>
                <a:latin typeface="+mj-lt" pitchFamily="34" charset="0"/>
                <a:ea typeface="+mj-lt" pitchFamily="34" charset="-122"/>
                <a:cs typeface="+mj-lt" pitchFamily="34" charset="-120"/>
              </a:rPr>
              <a:t>Qualitative information</a:t>
            </a:r>
            <a:endParaRPr lang="en-US" sz="1500" dirty="0"/>
          </a:p>
          <a:p>
            <a:pPr indent="0" marL="0">
              <a:buNone/>
            </a:pPr>
            <a:r>
              <a:rPr lang="en-US" sz="1100" i="1" dirty="0">
                <a:solidFill>
                  <a:srgbClr val="C9D3DC"/>
                </a:solidFill>
              </a:rPr>
              <a:t>Sheets « Assumptions » &amp; « Other_Info »</a:t>
            </a:r>
            <a:endParaRPr lang="en-US" sz="1500" dirty="0"/>
          </a:p>
        </p:txBody>
      </p:sp>
      <p:sp>
        <p:nvSpPr>
          <p:cNvPr id="16" name="Qualitative list"/>
          <p:cNvSpPr txBox="1"/>
          <p:nvPr/>
        </p:nvSpPr>
        <p:spPr>
          <a:xfrm>
            <a:off x="640080" y="4846320"/>
            <a:ext cx="5166360" cy="65836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Liquidity constraints and limitations</a:t>
            </a:r>
            <a:endParaRPr lang="en-US" sz="1200" dirty="0"/>
          </a:p>
          <a:p>
            <a:pPr marL="342900" indent="-342900">
              <a:spcAft>
                <a:spcPts val="400"/>
              </a:spcAft>
              <a:buSzPct val="100000"/>
              <a:buChar char="•"/>
            </a:pPr>
            <a:r>
              <a:rPr lang="en-US" sz="1200" dirty="0">
                <a:solidFill>
                  <a:schemeClr val="tx1"/>
                </a:solidFill>
              </a:rPr>
              <a:t>Intragroup liquidity support arrangements</a:t>
            </a:r>
            <a:endParaRPr lang="en-US" sz="1200" dirty="0"/>
          </a:p>
          <a:p>
            <a:pPr marL="342900" indent="-342900">
              <a:spcAft>
                <a:spcPts val="400"/>
              </a:spcAft>
              <a:buSzPct val="100000"/>
              <a:buChar char="•"/>
            </a:pPr>
            <a:r>
              <a:rPr lang="en-US" sz="1200" dirty="0">
                <a:solidFill>
                  <a:schemeClr val="tx1"/>
                </a:solidFill>
              </a:rPr>
              <a:t>Qualitative analysis to inform the supervisory assessment</a:t>
            </a:r>
            <a:endParaRPr lang="en-US" sz="1200" dirty="0"/>
          </a:p>
        </p:txBody>
      </p:sp>
      <p:sp>
        <p:nvSpPr>
          <p:cNvPr id="17" name="Attention body"/>
          <p:cNvSpPr/>
          <p:nvPr/>
        </p:nvSpPr>
        <p:spPr>
          <a:xfrm>
            <a:off x="6199632" y="4206240"/>
            <a:ext cx="5532120" cy="1371600"/>
          </a:xfrm>
          <a:prstGeom prst="rect">
            <a:avLst/>
          </a:prstGeom>
          <a:solidFill>
            <a:schemeClr val="bg1"/>
          </a:solidFill>
          <a:ln w="9525">
            <a:solidFill>
              <a:srgbClr val="D5DDE3"/>
            </a:solidFill>
            <a:prstDash val="solid"/>
          </a:ln>
        </p:spPr>
      </p:sp>
      <p:sp>
        <p:nvSpPr>
          <p:cNvPr id="18" name="Attention header"/>
          <p:cNvSpPr txBox="1"/>
          <p:nvPr/>
        </p:nvSpPr>
        <p:spPr>
          <a:xfrm>
            <a:off x="6199632" y="4206240"/>
            <a:ext cx="5532120" cy="530352"/>
          </a:xfrm>
          <a:prstGeom prst="rect">
            <a:avLst/>
          </a:prstGeom>
          <a:solidFill>
            <a:schemeClr val="tx1"/>
          </a:solidFill>
          <a:ln/>
        </p:spPr>
        <p:txBody>
          <a:bodyPr wrap="square" lIns="177800" tIns="0" rIns="177800" bIns="0" rtlCol="0" anchor="ctr"/>
          <a:lstStyle/>
          <a:p>
            <a:pPr indent="0" marL="0">
              <a:buNone/>
            </a:pPr>
            <a:r>
              <a:rPr lang="en-US" sz="1500" b="1" dirty="0">
                <a:solidFill>
                  <a:schemeClr val="bg1"/>
                </a:solidFill>
                <a:latin typeface="+mj-lt" pitchFamily="34" charset="0"/>
                <a:ea typeface="+mj-lt" pitchFamily="34" charset="-122"/>
                <a:cs typeface="+mj-lt" pitchFamily="34" charset="-120"/>
              </a:rPr>
              <a:t>Other attention points</a:t>
            </a:r>
            <a:endParaRPr lang="en-US" sz="1500" dirty="0"/>
          </a:p>
          <a:p>
            <a:pPr indent="0" marL="0">
              <a:buNone/>
            </a:pPr>
            <a:r>
              <a:rPr lang="en-US" sz="1100" i="1" dirty="0">
                <a:solidFill>
                  <a:srgbClr val="C9D3DC"/>
                </a:solidFill>
              </a:rPr>
              <a:t>Contained in the template</a:t>
            </a:r>
            <a:endParaRPr lang="en-US" sz="1500" dirty="0"/>
          </a:p>
        </p:txBody>
      </p:sp>
      <p:sp>
        <p:nvSpPr>
          <p:cNvPr id="19" name="Attention list"/>
          <p:cNvSpPr txBox="1"/>
          <p:nvPr/>
        </p:nvSpPr>
        <p:spPr>
          <a:xfrm>
            <a:off x="6382512" y="4846320"/>
            <a:ext cx="5166360" cy="65836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Internal reinsurance cash flows broken down by counterparty entity</a:t>
            </a:r>
            <a:endParaRPr lang="en-US" sz="1200" dirty="0"/>
          </a:p>
          <a:p>
            <a:pPr marL="342900" indent="-342900">
              <a:spcAft>
                <a:spcPts val="400"/>
              </a:spcAft>
              <a:buSzPct val="100000"/>
              <a:buChar char="•"/>
            </a:pPr>
            <a:r>
              <a:rPr lang="en-US" sz="1200" dirty="0">
                <a:solidFill>
                  <a:schemeClr val="tx1"/>
                </a:solidFill>
              </a:rPr>
              <a:t>Legal, regulatory or operational constraints on liquidity transferability across jurisdictions</a:t>
            </a:r>
            <a:endParaRPr lang="en-US" sz="1200" dirty="0"/>
          </a:p>
        </p:txBody>
      </p:sp>
      <p:sp>
        <p:nvSpPr>
          <p:cNvPr id="20" name="Walkthrough label"/>
          <p:cNvSpPr txBox="1"/>
          <p:nvPr/>
        </p:nvSpPr>
        <p:spPr>
          <a:xfrm>
            <a:off x="457200" y="5669280"/>
            <a:ext cx="4754880" cy="59436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  Walkthrough the template</a:t>
            </a:r>
            <a:endParaRPr lang="en-US" sz="2200" dirty="0"/>
          </a:p>
        </p:txBody>
      </p:sp>
      <p:sp>
        <p:nvSpPr>
          <p:cNvPr id="21" name="Mock-up insertion frame"/>
          <p:cNvSpPr/>
          <p:nvPr/>
        </p:nvSpPr>
        <p:spPr>
          <a:xfrm>
            <a:off x="5394960" y="5669280"/>
            <a:ext cx="6336792" cy="594360"/>
          </a:xfrm>
          <a:prstGeom prst="rect">
            <a:avLst/>
          </a:prstGeom>
          <a:solidFill>
            <a:schemeClr val="bg2"/>
          </a:solidFill>
          <a:ln w="19050">
            <a:solidFill>
              <a:schemeClr val="accent3"/>
            </a:solidFill>
            <a:prstDash val="dash"/>
          </a:ln>
        </p:spPr>
      </p:sp>
      <p:sp>
        <p:nvSpPr>
          <p:cNvPr id="22" name="Mock-up insertion note"/>
          <p:cNvSpPr txBox="1"/>
          <p:nvPr/>
        </p:nvSpPr>
        <p:spPr>
          <a:xfrm>
            <a:off x="5577840" y="5669280"/>
            <a:ext cx="5989320" cy="594360"/>
          </a:xfrm>
          <a:prstGeom prst="rect">
            <a:avLst/>
          </a:prstGeom>
          <a:noFill/>
          <a:ln/>
        </p:spPr>
        <p:txBody>
          <a:bodyPr wrap="square" lIns="0" tIns="0" rIns="0" bIns="0" rtlCol="0" anchor="ctr"/>
          <a:lstStyle/>
          <a:p>
            <a:pPr algn="ctr" indent="0" marL="0">
              <a:buNone/>
            </a:pPr>
            <a:r>
              <a:rPr lang="en-US" sz="1300" b="1" dirty="0">
                <a:solidFill>
                  <a:schemeClr val="accent3"/>
                </a:solidFill>
              </a:rPr>
              <a:t>INSERT THE MOCK-UP HERE: Insert &gt; Object &gt; Create from file (Excel). Then delete this note.</a:t>
            </a:r>
            <a:endParaRPr lang="en-US" sz="13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NEXT STEPS</a:t>
            </a:r>
            <a:endParaRPr lang="en-US" sz="1100" dirty="0"/>
          </a:p>
        </p:txBody>
      </p:sp>
      <p:sp>
        <p:nvSpPr>
          <p:cNvPr id="3" name="Text 1"/>
          <p:cNvSpPr/>
          <p:nvPr>
            <p:ph idx="102" type="title" hasCustomPrompt="1"/>
          </p:nvPr>
        </p:nvSpPr>
        <p:spPr>
          <a:xfrm>
            <a:off x="457200" y="548640"/>
            <a:ext cx="11274552" cy="640080"/>
          </a:xfrm>
          <a:prstGeom prst="rect">
            <a:avLst/>
          </a:prstGeom>
          <a:noFill/>
          <a:ln/>
        </p:spPr>
        <p:txBody>
          <a:bodyPr wrap="square" lIns="0" tIns="0" rIns="0" bIns="0" rtlCol="0" anchor="ctr"/>
          <a:lstStyle/>
          <a:p>
            <a:pPr algn="l" indent="0" marL="0">
              <a:buNone/>
            </a:pPr>
            <a:r>
              <a:rPr lang="en-US" sz="3000" b="1" dirty="0">
                <a:solidFill>
                  <a:schemeClr val="tx1"/>
                </a:solidFill>
              </a:rPr>
              <a:t>Next steps and your questions</a:t>
            </a:r>
            <a:endParaRPr lang="en-US" sz="3000" dirty="0"/>
          </a:p>
        </p:txBody>
      </p:sp>
      <p:sp>
        <p:nvSpPr>
          <p:cNvPr id="4" name="Text 1"/>
          <p:cNvSpPr/>
          <p:nvPr>
            <p:ph idx="103" type="body" hasCustomPrompt="1"/>
          </p:nvPr>
        </p:nvSpPr>
        <p:spPr>
          <a:xfrm>
            <a:off x="457200" y="1188720"/>
            <a:ext cx="11274552" cy="329184"/>
          </a:xfrm>
          <a:prstGeom prst="rect">
            <a:avLst/>
          </a:prstGeom>
          <a:noFill/>
          <a:ln/>
        </p:spPr>
        <p:txBody>
          <a:bodyPr wrap="square" lIns="0" tIns="0" rIns="0" bIns="0" rtlCol="0" anchor="ctr"/>
          <a:lstStyle/>
          <a:p>
            <a:pPr indent="0" marL="0">
              <a:buNone/>
            </a:pPr>
            <a:r>
              <a:rPr lang="en-US" sz="1500" i="1" dirty="0">
                <a:solidFill>
                  <a:schemeClr val="tx2"/>
                </a:solidFill>
              </a:rPr>
              <a:t>A named correspondent, regular touchpoints and a support kit.</a:t>
            </a:r>
            <a:endParaRPr lang="en-US" sz="1500" dirty="0"/>
          </a:p>
        </p:txBody>
      </p:sp>
      <p:sp>
        <p:nvSpPr>
          <p:cNvPr id="6" name="Ways of working card"/>
          <p:cNvSpPr/>
          <p:nvPr/>
        </p:nvSpPr>
        <p:spPr>
          <a:xfrm>
            <a:off x="457200" y="1783080"/>
            <a:ext cx="4389120" cy="2926080"/>
          </a:xfrm>
          <a:prstGeom prst="rect">
            <a:avLst/>
          </a:prstGeom>
          <a:solidFill>
            <a:schemeClr val="bg2"/>
          </a:solidFill>
          <a:ln w="9525">
            <a:solidFill>
              <a:srgbClr val="D5DDE3"/>
            </a:solidFill>
            <a:prstDash val="solid"/>
          </a:ln>
        </p:spPr>
      </p:sp>
      <p:sp>
        <p:nvSpPr>
          <p:cNvPr id="7" name="Ways of working label"/>
          <p:cNvSpPr txBox="1"/>
          <p:nvPr/>
        </p:nvSpPr>
        <p:spPr>
          <a:xfrm>
            <a:off x="685800" y="1965960"/>
            <a:ext cx="393192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WAYS OF WORKING</a:t>
            </a:r>
            <a:endParaRPr lang="en-US" sz="1100" dirty="0"/>
          </a:p>
        </p:txBody>
      </p:sp>
      <p:sp>
        <p:nvSpPr>
          <p:cNvPr id="8" name="Ways of working list"/>
          <p:cNvSpPr txBox="1"/>
          <p:nvPr/>
        </p:nvSpPr>
        <p:spPr>
          <a:xfrm>
            <a:off x="685800" y="2377440"/>
            <a:ext cx="39319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named LRMP correspondent in your entity</a:t>
            </a:r>
            <a:endParaRPr lang="en-US" sz="1600" dirty="0"/>
          </a:p>
          <a:p>
            <a:pPr marL="342900" indent="-342900">
              <a:spcAft>
                <a:spcPts val="1000"/>
              </a:spcAft>
              <a:buSzPct val="100000"/>
              <a:buChar char="•"/>
            </a:pPr>
            <a:r>
              <a:rPr lang="en-US" sz="1600" dirty="0">
                <a:solidFill>
                  <a:schemeClr val="tx1"/>
                </a:solidFill>
              </a:rPr>
              <a:t>Touchpoints every two months, weekly during the dry run</a:t>
            </a:r>
            <a:endParaRPr lang="en-US" sz="1600" dirty="0"/>
          </a:p>
          <a:p>
            <a:pPr marL="342900" indent="-342900">
              <a:spcAft>
                <a:spcPts val="1000"/>
              </a:spcAft>
              <a:buSzPct val="100000"/>
              <a:buChar char="•"/>
            </a:pPr>
            <a:r>
              <a:rPr lang="en-US" sz="1600" dirty="0">
                <a:solidFill>
                  <a:schemeClr val="tx1"/>
                </a:solidFill>
              </a:rPr>
              <a:t>Support kit shared in Q1 2027</a:t>
            </a:r>
            <a:endParaRPr lang="en-US" sz="1600" dirty="0"/>
          </a:p>
        </p:txBody>
      </p:sp>
      <p:graphicFrame>
        <p:nvGraphicFramePr>
          <p:cNvPr id="8" name="Next steps table"/>
          <p:cNvGraphicFramePr>
            <a:graphicFrameLocks noGrp="1"/>
          </p:cNvGraphicFramePr>
          <p:nvPr>
            <p:extLst>
              <p:ext uri="{D42A27DB-BD31-4B8C-83A1-F6EECF244321}">
                <p14:modId xmlns:p14="http://schemas.microsoft.com/office/powerpoint/2010/main" val="1579011935"/>
              </p:ext>
            </p:extLst>
          </p:nvPr>
        </p:nvGraphicFramePr>
        <p:xfrm>
          <a:off x="5120640" y="1783080"/>
          <a:ext cx="6611112" cy="914400"/>
        </p:xfrm>
        <a:graphic>
          <a:graphicData uri="http://schemas.openxmlformats.org/drawingml/2006/table">
            <a:tbl>
              <a:tblPr/>
              <a:tblGrid>
                <a:gridCol w="3566160"/>
                <a:gridCol w="1737360"/>
                <a:gridCol w="1307592"/>
              </a:tblGrid>
              <a:tr h="585216">
                <a:tc>
                  <a:txBody>
                    <a:bodyPr/>
                    <a:lstStyle/>
                    <a:p>
                      <a:pPr indent="0" marL="0">
                        <a:buNone/>
                      </a:pPr>
                      <a:r>
                        <a:rPr lang="en-US" sz="1400" b="1" dirty="0">
                          <a:solidFill>
                            <a:srgbClr val="FFFFFF"/>
                          </a:solidFill>
                        </a:rPr>
                        <a:t>Action</a:t>
                      </a:r>
                      <a:endParaRPr lang="en-US" sz="14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E5E59"/>
                    </a:solidFill>
                  </a:tcPr>
                </a:tc>
                <a:tc>
                  <a:txBody>
                    <a:bodyPr/>
                    <a:lstStyle/>
                    <a:p>
                      <a:pPr indent="0" marL="0">
                        <a:buNone/>
                      </a:pPr>
                      <a:r>
                        <a:rPr lang="en-US" sz="1400" b="1" dirty="0">
                          <a:solidFill>
                            <a:srgbClr val="FFFFFF"/>
                          </a:solidFill>
                        </a:rPr>
                        <a:t>Owner</a:t>
                      </a:r>
                      <a:endParaRPr lang="en-US" sz="14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E5E59"/>
                    </a:solidFill>
                  </a:tcPr>
                </a:tc>
                <a:tc>
                  <a:txBody>
                    <a:bodyPr/>
                    <a:lstStyle/>
                    <a:p>
                      <a:pPr indent="0" marL="0">
                        <a:buNone/>
                      </a:pPr>
                      <a:r>
                        <a:rPr lang="en-US" sz="1400" b="1" dirty="0">
                          <a:solidFill>
                            <a:srgbClr val="FFFFFF"/>
                          </a:solidFill>
                        </a:rPr>
                        <a:t>By</a:t>
                      </a:r>
                      <a:endParaRPr lang="en-US" sz="14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E5E59"/>
                    </a:solidFill>
                  </a:tcPr>
                </a:tc>
              </a:tr>
              <a:tr h="585216">
                <a:tc>
                  <a:txBody>
                    <a:bodyPr/>
                    <a:lstStyle/>
                    <a:p>
                      <a:pPr indent="0" marL="0">
                        <a:buNone/>
                      </a:pPr>
                      <a:r>
                        <a:rPr lang="en-US" sz="1500" dirty="0">
                          <a:solidFill>
                            <a:srgbClr val="131A21"/>
                          </a:solidFill>
                        </a:rPr>
                        <a:t>Nominate your LRMP correspondent</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dirty="0">
                          <a:solidFill>
                            <a:srgbClr val="131A21"/>
                          </a:solidFill>
                        </a:rPr>
                        <a:t>Covéa Insurance</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b="1" dirty="0">
                          <a:solidFill>
                            <a:srgbClr val="131A21"/>
                          </a:solidFill>
                        </a:rPr>
                        <a:t>10 Nov 2026</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85216">
                <a:tc>
                  <a:txBody>
                    <a:bodyPr/>
                    <a:lstStyle/>
                    <a:p>
                      <a:pPr indent="0" marL="0">
                        <a:buNone/>
                      </a:pPr>
                      <a:r>
                        <a:rPr lang="en-US" sz="1500" dirty="0">
                          <a:solidFill>
                            <a:srgbClr val="131A21"/>
                          </a:solidFill>
                        </a:rPr>
                        <a:t>Share this deck and the mock-up</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dirty="0">
                          <a:solidFill>
                            <a:srgbClr val="131A21"/>
                          </a:solidFill>
                        </a:rPr>
                        <a:t>Group</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b="1" dirty="0">
                          <a:solidFill>
                            <a:srgbClr val="131A21"/>
                          </a:solidFill>
                        </a:rPr>
                        <a:t>This week</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85216">
                <a:tc>
                  <a:txBody>
                    <a:bodyPr/>
                    <a:lstStyle/>
                    <a:p>
                      <a:pPr indent="0" marL="0">
                        <a:buNone/>
                      </a:pPr>
                      <a:r>
                        <a:rPr lang="en-US" sz="1500" dirty="0">
                          <a:solidFill>
                            <a:srgbClr val="131A21"/>
                          </a:solidFill>
                        </a:rPr>
                        <a:t>Deliver the three inputs</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dirty="0">
                          <a:solidFill>
                            <a:srgbClr val="131A21"/>
                          </a:solidFill>
                        </a:rPr>
                        <a:t>Covéa Insurance</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b="1" dirty="0">
                          <a:solidFill>
                            <a:srgbClr val="131A21"/>
                          </a:solidFill>
                        </a:rPr>
                        <a:t>1 Dec 2026</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85216">
                <a:tc>
                  <a:txBody>
                    <a:bodyPr/>
                    <a:lstStyle/>
                    <a:p>
                      <a:pPr indent="0" marL="0">
                        <a:buNone/>
                      </a:pPr>
                      <a:r>
                        <a:rPr lang="en-US" sz="1500" dirty="0">
                          <a:solidFill>
                            <a:srgbClr val="131A21"/>
                          </a:solidFill>
                        </a:rPr>
                        <a:t>Next touchpoint</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dirty="0">
                          <a:solidFill>
                            <a:srgbClr val="131A21"/>
                          </a:solidFill>
                        </a:rPr>
                        <a:t>Both</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500" b="1" dirty="0">
                          <a:solidFill>
                            <a:srgbClr val="131A21"/>
                          </a:solidFill>
                        </a:rPr>
                        <a:t>Jan 2027</a:t>
                      </a:r>
                      <a:endParaRPr lang="en-US" sz="15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0" name="Questions band"/>
          <p:cNvSpPr/>
          <p:nvPr/>
        </p:nvSpPr>
        <p:spPr>
          <a:xfrm>
            <a:off x="457200" y="5029200"/>
            <a:ext cx="11274552" cy="1188720"/>
          </a:xfrm>
          <a:prstGeom prst="rect">
            <a:avLst/>
          </a:prstGeom>
          <a:solidFill>
            <a:schemeClr val="tx1"/>
          </a:solidFill>
          <a:ln/>
        </p:spPr>
      </p:sp>
      <p:sp>
        <p:nvSpPr>
          <p:cNvPr id="11" name="Questions title"/>
          <p:cNvSpPr txBox="1"/>
          <p:nvPr/>
        </p:nvSpPr>
        <p:spPr>
          <a:xfrm>
            <a:off x="777240" y="5029200"/>
            <a:ext cx="4114800" cy="1188720"/>
          </a:xfrm>
          <a:prstGeom prst="rect">
            <a:avLst/>
          </a:prstGeom>
          <a:noFill/>
          <a:ln/>
        </p:spPr>
        <p:txBody>
          <a:bodyPr wrap="square" lIns="0" tIns="0" rIns="0" bIns="0" rtlCol="0" anchor="ctr"/>
          <a:lstStyle/>
          <a:p>
            <a:pPr indent="0" marL="0">
              <a:buNone/>
            </a:pPr>
            <a:r>
              <a:rPr lang="en-US" sz="2800" b="1" dirty="0">
                <a:solidFill>
                  <a:schemeClr val="bg1"/>
                </a:solidFill>
                <a:latin typeface="+mj-lt" pitchFamily="34" charset="0"/>
                <a:ea typeface="+mj-lt" pitchFamily="34" charset="-122"/>
                <a:cs typeface="+mj-lt" pitchFamily="34" charset="-120"/>
              </a:rPr>
              <a:t>Your questions</a:t>
            </a:r>
            <a:endParaRPr lang="en-US" sz="2800" dirty="0"/>
          </a:p>
        </p:txBody>
      </p:sp>
      <p:sp>
        <p:nvSpPr>
          <p:cNvPr id="12" name="Contact"/>
          <p:cNvSpPr txBox="1"/>
          <p:nvPr/>
        </p:nvSpPr>
        <p:spPr>
          <a:xfrm>
            <a:off x="4937760" y="5029200"/>
            <a:ext cx="6492240" cy="1188720"/>
          </a:xfrm>
          <a:prstGeom prst="rect">
            <a:avLst/>
          </a:prstGeom>
          <a:noFill/>
          <a:ln/>
        </p:spPr>
        <p:txBody>
          <a:bodyPr wrap="square" lIns="0" tIns="0" rIns="0" bIns="0" rtlCol="0" anchor="ctr"/>
          <a:lstStyle/>
          <a:p>
            <a:pPr indent="0" marL="0">
              <a:buNone/>
            </a:pPr>
            <a:r>
              <a:rPr lang="en-US" sz="1500" dirty="0">
                <a:solidFill>
                  <a:srgbClr val="AEBAC4"/>
                </a:solidFill>
              </a:rPr>
              <a:t>[Name, role and e-mail of the Group LRMP project manager]</a:t>
            </a:r>
            <a:endParaRPr lang="en-US" sz="1500" dirty="0"/>
          </a:p>
        </p:txBody>
      </p:sp>
      <p:sp>
        <p:nvSpPr>
          <p:cNvPr id="25" name="Slide Number Placeholder 0"/>
          <p:cNvSpPr>
            <a:spLocks noGrp="1"/>
          </p:cNvSpPr>
          <p:nvPr>
            <p:ph type="sldNum" sz="quarter" idx="4294967295"/>
          </p:nvPr>
        </p:nvSpPr>
        <p:spPr>
          <a:xfrm>
            <a:off x="11155680" y="6419088"/>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LRMP Covea">
  <a:themeElements>
    <a:clrScheme name="LRMP Covea">
      <a:dk1>
        <a:srgbClr val="131A21"/>
      </a:dk1>
      <a:lt1>
        <a:srgbClr val="FFFFFF"/>
      </a:lt1>
      <a:dk2>
        <a:srgbClr val="5D6A75"/>
      </a:dk2>
      <a:lt2>
        <a:srgbClr val="F2F5F7"/>
      </a:lt2>
      <a:accent1>
        <a:srgbClr val="1E5E59"/>
      </a:accent1>
      <a:accent2>
        <a:srgbClr val="3C5A87"/>
      </a:accent2>
      <a:accent3>
        <a:srgbClr val="8A5A18"/>
      </a:accent3>
      <a:accent4>
        <a:srgbClr val="8E4326"/>
      </a:accent4>
      <a:accent5>
        <a:srgbClr val="6A4478"/>
      </a:accent5>
      <a:accent6>
        <a:srgbClr val="2C6549"/>
      </a:accent6>
      <a:hlink>
        <a:srgbClr val="3C5A87"/>
      </a:hlink>
      <a:folHlink>
        <a:srgbClr val="6A4478"/>
      </a:folHlink>
    </a:clrScheme>
    <a:fontScheme name="LRMP Cove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LRMP kick-off with Covéa Insurance plc</dc:title>
  <dc:subject>PptxGenJS Presentation</dc:subject>
  <dc:creator>Covéa Group - LRMP project</dc:creator>
  <cp:lastModifiedBy>Covéa Group - LRMP project</cp:lastModifiedBy>
  <cp:revision>1</cp:revision>
  <dcterms:created xsi:type="dcterms:W3CDTF">2026-10-20T19:58:51Z</dcterms:created>
  <dcterms:modified xsi:type="dcterms:W3CDTF">2026-10-20T19:58:51Z</dcterms:modified>
</cp:coreProperties>
</file>